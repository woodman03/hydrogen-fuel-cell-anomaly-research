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D_9A44D32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sldIdLst>
    <p:sldId id="256" r:id="rId5"/>
    <p:sldId id="257" r:id="rId6"/>
    <p:sldId id="276" r:id="rId7"/>
    <p:sldId id="258" r:id="rId8"/>
    <p:sldId id="259" r:id="rId9"/>
    <p:sldId id="262" r:id="rId10"/>
    <p:sldId id="271" r:id="rId11"/>
    <p:sldId id="264" r:id="rId12"/>
    <p:sldId id="267" r:id="rId13"/>
    <p:sldId id="268" r:id="rId14"/>
    <p:sldId id="269" r:id="rId15"/>
    <p:sldId id="265" r:id="rId16"/>
    <p:sldId id="266" r:id="rId17"/>
    <p:sldId id="270" r:id="rId18"/>
    <p:sldId id="263" r:id="rId19"/>
    <p:sldId id="272" r:id="rId20"/>
    <p:sldId id="274" r:id="rId21"/>
    <p:sldId id="275" r:id="rId22"/>
    <p:sldId id="273"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265D58-E975-51ED-8E20-4D92D9D3CD4C}" name="Ethan Mashburn" initials="EM" userId="S::emashburn@atu.edu::8197919c-fbad-4274-9f5e-bec378d0d99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2D2A"/>
    <a:srgbClr val="196B24"/>
    <a:srgbClr val="FFE319"/>
    <a:srgbClr val="E7EBE8"/>
    <a:srgbClr val="CCD4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44" autoAdjust="0"/>
    <p:restoredTop sz="94660"/>
  </p:normalViewPr>
  <p:slideViewPr>
    <p:cSldViewPr snapToGrid="0">
      <p:cViewPr>
        <p:scale>
          <a:sx n="57" d="100"/>
          <a:sy n="57" d="100"/>
        </p:scale>
        <p:origin x="2054" y="4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comments/modernComment_10D_9A44D320.xml><?xml version="1.0" encoding="utf-8"?>
<p188:cmLst xmlns:a="http://schemas.openxmlformats.org/drawingml/2006/main" xmlns:r="http://schemas.openxmlformats.org/officeDocument/2006/relationships" xmlns:p188="http://schemas.microsoft.com/office/powerpoint/2018/8/main">
  <p188:cm id="{DDF03311-AD21-4DA9-A0B6-ECF8C3FC98CF}" authorId="{F2265D58-E975-51ED-8E20-4D92D9D3CD4C}" created="2025-04-09T03:05:46.261">
    <pc:sldMkLst xmlns:pc="http://schemas.microsoft.com/office/powerpoint/2013/main/command">
      <pc:docMk/>
      <pc:sldMk cId="2588201760" sldId="269"/>
    </pc:sldMkLst>
    <p188:txBody>
      <a:bodyPr/>
      <a:lstStyle/>
      <a:p>
        <a:r>
          <a:rPr lang="en-US"/>
          <a:t>Power is negative at the battery terminal while charging, most anomalies occur during charging or at 0 power.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0601A3-B35C-4903-B476-3F36717D9D09}" type="datetimeFigureOut">
              <a:rPr lang="en-US" smtClean="0"/>
              <a:t>4/10/2025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035E8B-2071-4AB8-8A87-2B2A63F3F420}" type="slidenum">
              <a:rPr lang="en-US" smtClean="0"/>
              <a:t>‹#›</a:t>
            </a:fld>
            <a:endParaRPr lang="en-US"/>
          </a:p>
        </p:txBody>
      </p:sp>
    </p:spTree>
    <p:extLst>
      <p:ext uri="{BB962C8B-B14F-4D97-AF65-F5344CB8AC3E}">
        <p14:creationId xmlns:p14="http://schemas.microsoft.com/office/powerpoint/2010/main" val="365459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3035E8B-2071-4AB8-8A87-2B2A63F3F420}" type="slidenum">
              <a:rPr lang="en-US" smtClean="0"/>
              <a:t>4</a:t>
            </a:fld>
            <a:endParaRPr lang="en-US"/>
          </a:p>
        </p:txBody>
      </p:sp>
    </p:spTree>
    <p:extLst>
      <p:ext uri="{BB962C8B-B14F-4D97-AF65-F5344CB8AC3E}">
        <p14:creationId xmlns:p14="http://schemas.microsoft.com/office/powerpoint/2010/main" val="3854604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D6A25-D48E-252E-1C42-FE09BD3DC2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337B7A-2B67-C6A7-01CA-8ABA263F4A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FD2A48-2DA9-B92E-965D-4B9A76AF894C}"/>
              </a:ext>
            </a:extLst>
          </p:cNvPr>
          <p:cNvSpPr>
            <a:spLocks noGrp="1"/>
          </p:cNvSpPr>
          <p:nvPr>
            <p:ph type="dt" sz="half" idx="10"/>
          </p:nvPr>
        </p:nvSpPr>
        <p:spPr/>
        <p:txBody>
          <a:bodyPr/>
          <a:lstStyle/>
          <a:p>
            <a:fld id="{ACB8089D-38EB-4BDF-81CD-816C35C9A44F}" type="datetimeFigureOut">
              <a:rPr lang="en-US" smtClean="0"/>
              <a:t>4/10/2025</a:t>
            </a:fld>
            <a:endParaRPr lang="en-US"/>
          </a:p>
        </p:txBody>
      </p:sp>
      <p:sp>
        <p:nvSpPr>
          <p:cNvPr id="5" name="Footer Placeholder 4">
            <a:extLst>
              <a:ext uri="{FF2B5EF4-FFF2-40B4-BE49-F238E27FC236}">
                <a16:creationId xmlns:a16="http://schemas.microsoft.com/office/drawing/2014/main" id="{14389A50-1D6D-9003-B324-4C734198E1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6D484D-EFF5-D5A3-0EA2-8B9CA565C240}"/>
              </a:ext>
            </a:extLst>
          </p:cNvPr>
          <p:cNvSpPr>
            <a:spLocks noGrp="1"/>
          </p:cNvSpPr>
          <p:nvPr>
            <p:ph type="sldNum" sz="quarter" idx="12"/>
          </p:nvPr>
        </p:nvSpPr>
        <p:spPr/>
        <p:txBody>
          <a:bodyPr/>
          <a:lstStyle/>
          <a:p>
            <a:fld id="{AD6BCF17-AFE9-48F5-AE94-D79351037967}" type="slidenum">
              <a:rPr lang="en-US" smtClean="0"/>
              <a:t>‹#›</a:t>
            </a:fld>
            <a:endParaRPr lang="en-US"/>
          </a:p>
        </p:txBody>
      </p:sp>
    </p:spTree>
    <p:extLst>
      <p:ext uri="{BB962C8B-B14F-4D97-AF65-F5344CB8AC3E}">
        <p14:creationId xmlns:p14="http://schemas.microsoft.com/office/powerpoint/2010/main" val="4238935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8C6F0-EE4F-4ADF-0430-A7286B90F9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31A7FF-CB13-AEB9-45F5-25D8B11CD3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5E2B1-55E1-A70D-F008-6501551F500D}"/>
              </a:ext>
            </a:extLst>
          </p:cNvPr>
          <p:cNvSpPr>
            <a:spLocks noGrp="1"/>
          </p:cNvSpPr>
          <p:nvPr>
            <p:ph type="dt" sz="half" idx="10"/>
          </p:nvPr>
        </p:nvSpPr>
        <p:spPr/>
        <p:txBody>
          <a:bodyPr/>
          <a:lstStyle/>
          <a:p>
            <a:fld id="{ACB8089D-38EB-4BDF-81CD-816C35C9A44F}" type="datetimeFigureOut">
              <a:rPr lang="en-US" smtClean="0"/>
              <a:t>4/10/2025</a:t>
            </a:fld>
            <a:endParaRPr lang="en-US"/>
          </a:p>
        </p:txBody>
      </p:sp>
      <p:sp>
        <p:nvSpPr>
          <p:cNvPr id="5" name="Footer Placeholder 4">
            <a:extLst>
              <a:ext uri="{FF2B5EF4-FFF2-40B4-BE49-F238E27FC236}">
                <a16:creationId xmlns:a16="http://schemas.microsoft.com/office/drawing/2014/main" id="{980B09DF-70DA-0231-0F75-83F933D5AF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552D6C-C74A-0D1A-32AB-AEDD1D0C57B7}"/>
              </a:ext>
            </a:extLst>
          </p:cNvPr>
          <p:cNvSpPr>
            <a:spLocks noGrp="1"/>
          </p:cNvSpPr>
          <p:nvPr>
            <p:ph type="sldNum" sz="quarter" idx="12"/>
          </p:nvPr>
        </p:nvSpPr>
        <p:spPr/>
        <p:txBody>
          <a:bodyPr/>
          <a:lstStyle/>
          <a:p>
            <a:fld id="{AD6BCF17-AFE9-48F5-AE94-D79351037967}" type="slidenum">
              <a:rPr lang="en-US" smtClean="0"/>
              <a:t>‹#›</a:t>
            </a:fld>
            <a:endParaRPr lang="en-US"/>
          </a:p>
        </p:txBody>
      </p:sp>
    </p:spTree>
    <p:extLst>
      <p:ext uri="{BB962C8B-B14F-4D97-AF65-F5344CB8AC3E}">
        <p14:creationId xmlns:p14="http://schemas.microsoft.com/office/powerpoint/2010/main" val="720996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39A96-D588-11A7-5A35-1B15F8096F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D1533A-AC18-4F94-7099-EF5508DC98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1E371F-2B14-8591-705E-2483313ACD0F}"/>
              </a:ext>
            </a:extLst>
          </p:cNvPr>
          <p:cNvSpPr>
            <a:spLocks noGrp="1"/>
          </p:cNvSpPr>
          <p:nvPr>
            <p:ph type="dt" sz="half" idx="10"/>
          </p:nvPr>
        </p:nvSpPr>
        <p:spPr/>
        <p:txBody>
          <a:bodyPr/>
          <a:lstStyle/>
          <a:p>
            <a:fld id="{ACB8089D-38EB-4BDF-81CD-816C35C9A44F}" type="datetimeFigureOut">
              <a:rPr lang="en-US" smtClean="0"/>
              <a:t>4/10/2025</a:t>
            </a:fld>
            <a:endParaRPr lang="en-US"/>
          </a:p>
        </p:txBody>
      </p:sp>
      <p:sp>
        <p:nvSpPr>
          <p:cNvPr id="5" name="Footer Placeholder 4">
            <a:extLst>
              <a:ext uri="{FF2B5EF4-FFF2-40B4-BE49-F238E27FC236}">
                <a16:creationId xmlns:a16="http://schemas.microsoft.com/office/drawing/2014/main" id="{E6F3C733-8591-6E41-8385-CD3C515D51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81E242-DEDE-E3E1-2A15-07DE14F622F8}"/>
              </a:ext>
            </a:extLst>
          </p:cNvPr>
          <p:cNvSpPr>
            <a:spLocks noGrp="1"/>
          </p:cNvSpPr>
          <p:nvPr>
            <p:ph type="sldNum" sz="quarter" idx="12"/>
          </p:nvPr>
        </p:nvSpPr>
        <p:spPr/>
        <p:txBody>
          <a:bodyPr/>
          <a:lstStyle/>
          <a:p>
            <a:fld id="{AD6BCF17-AFE9-48F5-AE94-D79351037967}" type="slidenum">
              <a:rPr lang="en-US" smtClean="0"/>
              <a:t>‹#›</a:t>
            </a:fld>
            <a:endParaRPr lang="en-US"/>
          </a:p>
        </p:txBody>
      </p:sp>
    </p:spTree>
    <p:extLst>
      <p:ext uri="{BB962C8B-B14F-4D97-AF65-F5344CB8AC3E}">
        <p14:creationId xmlns:p14="http://schemas.microsoft.com/office/powerpoint/2010/main" val="170836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C3F40-AD65-09AA-0E38-31CECE5239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470503-F90A-43A9-B634-A478C2EF42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28B4A4-8A62-B018-1C86-F868C5A4AF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5402FE-2185-198E-F05E-781FE1E7C7E3}"/>
              </a:ext>
            </a:extLst>
          </p:cNvPr>
          <p:cNvSpPr>
            <a:spLocks noGrp="1"/>
          </p:cNvSpPr>
          <p:nvPr>
            <p:ph type="dt" sz="half" idx="10"/>
          </p:nvPr>
        </p:nvSpPr>
        <p:spPr/>
        <p:txBody>
          <a:bodyPr/>
          <a:lstStyle/>
          <a:p>
            <a:fld id="{ACB8089D-38EB-4BDF-81CD-816C35C9A44F}" type="datetimeFigureOut">
              <a:rPr lang="en-US" smtClean="0"/>
              <a:t>4/10/2025</a:t>
            </a:fld>
            <a:endParaRPr lang="en-US"/>
          </a:p>
        </p:txBody>
      </p:sp>
      <p:sp>
        <p:nvSpPr>
          <p:cNvPr id="6" name="Footer Placeholder 5">
            <a:extLst>
              <a:ext uri="{FF2B5EF4-FFF2-40B4-BE49-F238E27FC236}">
                <a16:creationId xmlns:a16="http://schemas.microsoft.com/office/drawing/2014/main" id="{D61E9C2D-5541-F2BF-59D6-D7BBFF4171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B53C70-EFBE-8475-E376-EB55B7FDBBBF}"/>
              </a:ext>
            </a:extLst>
          </p:cNvPr>
          <p:cNvSpPr>
            <a:spLocks noGrp="1"/>
          </p:cNvSpPr>
          <p:nvPr>
            <p:ph type="sldNum" sz="quarter" idx="12"/>
          </p:nvPr>
        </p:nvSpPr>
        <p:spPr/>
        <p:txBody>
          <a:bodyPr/>
          <a:lstStyle/>
          <a:p>
            <a:fld id="{AD6BCF17-AFE9-48F5-AE94-D79351037967}" type="slidenum">
              <a:rPr lang="en-US" smtClean="0"/>
              <a:t>‹#›</a:t>
            </a:fld>
            <a:endParaRPr lang="en-US"/>
          </a:p>
        </p:txBody>
      </p:sp>
    </p:spTree>
    <p:extLst>
      <p:ext uri="{BB962C8B-B14F-4D97-AF65-F5344CB8AC3E}">
        <p14:creationId xmlns:p14="http://schemas.microsoft.com/office/powerpoint/2010/main" val="2478377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80460-016B-CD81-1BC2-D16AA91BBE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C8671A-1A2E-4961-368F-93991C3C8A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C00643-70CF-8B40-2AF0-2DD9FD3D39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243979-F8B0-8A97-26E9-79F53DB0BA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F9178F-A7D3-7B01-EBE4-F60D6A7E8A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1979BF-F934-04D0-7FAC-9DB7B42CE838}"/>
              </a:ext>
            </a:extLst>
          </p:cNvPr>
          <p:cNvSpPr>
            <a:spLocks noGrp="1"/>
          </p:cNvSpPr>
          <p:nvPr>
            <p:ph type="dt" sz="half" idx="10"/>
          </p:nvPr>
        </p:nvSpPr>
        <p:spPr/>
        <p:txBody>
          <a:bodyPr/>
          <a:lstStyle/>
          <a:p>
            <a:fld id="{ACB8089D-38EB-4BDF-81CD-816C35C9A44F}" type="datetimeFigureOut">
              <a:rPr lang="en-US" smtClean="0"/>
              <a:t>4/10/2025</a:t>
            </a:fld>
            <a:endParaRPr lang="en-US"/>
          </a:p>
        </p:txBody>
      </p:sp>
      <p:sp>
        <p:nvSpPr>
          <p:cNvPr id="8" name="Footer Placeholder 7">
            <a:extLst>
              <a:ext uri="{FF2B5EF4-FFF2-40B4-BE49-F238E27FC236}">
                <a16:creationId xmlns:a16="http://schemas.microsoft.com/office/drawing/2014/main" id="{AE7F3AB9-ED99-B47E-D1AE-2D8E831D4C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6597B0-2217-5FDC-BA88-F96BC682F111}"/>
              </a:ext>
            </a:extLst>
          </p:cNvPr>
          <p:cNvSpPr>
            <a:spLocks noGrp="1"/>
          </p:cNvSpPr>
          <p:nvPr>
            <p:ph type="sldNum" sz="quarter" idx="12"/>
          </p:nvPr>
        </p:nvSpPr>
        <p:spPr/>
        <p:txBody>
          <a:bodyPr/>
          <a:lstStyle/>
          <a:p>
            <a:fld id="{AD6BCF17-AFE9-48F5-AE94-D79351037967}" type="slidenum">
              <a:rPr lang="en-US" smtClean="0"/>
              <a:t>‹#›</a:t>
            </a:fld>
            <a:endParaRPr lang="en-US"/>
          </a:p>
        </p:txBody>
      </p:sp>
    </p:spTree>
    <p:extLst>
      <p:ext uri="{BB962C8B-B14F-4D97-AF65-F5344CB8AC3E}">
        <p14:creationId xmlns:p14="http://schemas.microsoft.com/office/powerpoint/2010/main" val="3173616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AF7D8-1793-CB6A-3BF9-E803B9C27F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A26C68-CAD2-91BF-6ECF-DC32A1B63954}"/>
              </a:ext>
            </a:extLst>
          </p:cNvPr>
          <p:cNvSpPr>
            <a:spLocks noGrp="1"/>
          </p:cNvSpPr>
          <p:nvPr>
            <p:ph type="dt" sz="half" idx="10"/>
          </p:nvPr>
        </p:nvSpPr>
        <p:spPr/>
        <p:txBody>
          <a:bodyPr/>
          <a:lstStyle/>
          <a:p>
            <a:fld id="{ACB8089D-38EB-4BDF-81CD-816C35C9A44F}" type="datetimeFigureOut">
              <a:rPr lang="en-US" smtClean="0"/>
              <a:t>4/10/2025</a:t>
            </a:fld>
            <a:endParaRPr lang="en-US"/>
          </a:p>
        </p:txBody>
      </p:sp>
      <p:sp>
        <p:nvSpPr>
          <p:cNvPr id="4" name="Footer Placeholder 3">
            <a:extLst>
              <a:ext uri="{FF2B5EF4-FFF2-40B4-BE49-F238E27FC236}">
                <a16:creationId xmlns:a16="http://schemas.microsoft.com/office/drawing/2014/main" id="{D99AB95D-E607-DAAB-7783-E1D4C439F2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321CC3-2B33-2C5C-B5EB-E40E2BA67957}"/>
              </a:ext>
            </a:extLst>
          </p:cNvPr>
          <p:cNvSpPr>
            <a:spLocks noGrp="1"/>
          </p:cNvSpPr>
          <p:nvPr>
            <p:ph type="sldNum" sz="quarter" idx="12"/>
          </p:nvPr>
        </p:nvSpPr>
        <p:spPr/>
        <p:txBody>
          <a:bodyPr/>
          <a:lstStyle/>
          <a:p>
            <a:fld id="{AD6BCF17-AFE9-48F5-AE94-D79351037967}" type="slidenum">
              <a:rPr lang="en-US" smtClean="0"/>
              <a:t>‹#›</a:t>
            </a:fld>
            <a:endParaRPr lang="en-US"/>
          </a:p>
        </p:txBody>
      </p:sp>
    </p:spTree>
    <p:extLst>
      <p:ext uri="{BB962C8B-B14F-4D97-AF65-F5344CB8AC3E}">
        <p14:creationId xmlns:p14="http://schemas.microsoft.com/office/powerpoint/2010/main" val="2932561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C49B29-4EB8-E557-E2CB-4C51B9C76740}"/>
              </a:ext>
            </a:extLst>
          </p:cNvPr>
          <p:cNvSpPr>
            <a:spLocks noGrp="1"/>
          </p:cNvSpPr>
          <p:nvPr>
            <p:ph type="dt" sz="half" idx="10"/>
          </p:nvPr>
        </p:nvSpPr>
        <p:spPr/>
        <p:txBody>
          <a:bodyPr/>
          <a:lstStyle/>
          <a:p>
            <a:fld id="{ACB8089D-38EB-4BDF-81CD-816C35C9A44F}" type="datetimeFigureOut">
              <a:rPr lang="en-US" smtClean="0"/>
              <a:t>4/10/2025</a:t>
            </a:fld>
            <a:endParaRPr lang="en-US"/>
          </a:p>
        </p:txBody>
      </p:sp>
      <p:sp>
        <p:nvSpPr>
          <p:cNvPr id="3" name="Footer Placeholder 2">
            <a:extLst>
              <a:ext uri="{FF2B5EF4-FFF2-40B4-BE49-F238E27FC236}">
                <a16:creationId xmlns:a16="http://schemas.microsoft.com/office/drawing/2014/main" id="{3DDFC79E-F324-3385-7237-901BAA1A64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313CE8-0A59-EE13-C753-4AE89D42953F}"/>
              </a:ext>
            </a:extLst>
          </p:cNvPr>
          <p:cNvSpPr>
            <a:spLocks noGrp="1"/>
          </p:cNvSpPr>
          <p:nvPr>
            <p:ph type="sldNum" sz="quarter" idx="12"/>
          </p:nvPr>
        </p:nvSpPr>
        <p:spPr/>
        <p:txBody>
          <a:bodyPr/>
          <a:lstStyle/>
          <a:p>
            <a:fld id="{AD6BCF17-AFE9-48F5-AE94-D79351037967}" type="slidenum">
              <a:rPr lang="en-US" smtClean="0"/>
              <a:t>‹#›</a:t>
            </a:fld>
            <a:endParaRPr lang="en-US"/>
          </a:p>
        </p:txBody>
      </p:sp>
    </p:spTree>
    <p:extLst>
      <p:ext uri="{BB962C8B-B14F-4D97-AF65-F5344CB8AC3E}">
        <p14:creationId xmlns:p14="http://schemas.microsoft.com/office/powerpoint/2010/main" val="1747057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16821-72A1-01F8-863B-76FD886DB6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249080-6DBE-AFE5-C21B-33E3D9A6E2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3CF101-857D-C231-E486-EC68BAE3F9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93F6EB-0490-055A-D0E9-4954E9889321}"/>
              </a:ext>
            </a:extLst>
          </p:cNvPr>
          <p:cNvSpPr>
            <a:spLocks noGrp="1"/>
          </p:cNvSpPr>
          <p:nvPr>
            <p:ph type="dt" sz="half" idx="10"/>
          </p:nvPr>
        </p:nvSpPr>
        <p:spPr/>
        <p:txBody>
          <a:bodyPr/>
          <a:lstStyle/>
          <a:p>
            <a:fld id="{ACB8089D-38EB-4BDF-81CD-816C35C9A44F}" type="datetimeFigureOut">
              <a:rPr lang="en-US" smtClean="0"/>
              <a:t>4/10/2025</a:t>
            </a:fld>
            <a:endParaRPr lang="en-US"/>
          </a:p>
        </p:txBody>
      </p:sp>
      <p:sp>
        <p:nvSpPr>
          <p:cNvPr id="6" name="Footer Placeholder 5">
            <a:extLst>
              <a:ext uri="{FF2B5EF4-FFF2-40B4-BE49-F238E27FC236}">
                <a16:creationId xmlns:a16="http://schemas.microsoft.com/office/drawing/2014/main" id="{CC11F9CB-3A78-FF4D-0357-04692FC758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6E8387-56A7-705D-E348-B982529C55AE}"/>
              </a:ext>
            </a:extLst>
          </p:cNvPr>
          <p:cNvSpPr>
            <a:spLocks noGrp="1"/>
          </p:cNvSpPr>
          <p:nvPr>
            <p:ph type="sldNum" sz="quarter" idx="12"/>
          </p:nvPr>
        </p:nvSpPr>
        <p:spPr/>
        <p:txBody>
          <a:bodyPr/>
          <a:lstStyle/>
          <a:p>
            <a:fld id="{AD6BCF17-AFE9-48F5-AE94-D79351037967}" type="slidenum">
              <a:rPr lang="en-US" smtClean="0"/>
              <a:t>‹#›</a:t>
            </a:fld>
            <a:endParaRPr lang="en-US"/>
          </a:p>
        </p:txBody>
      </p:sp>
    </p:spTree>
    <p:extLst>
      <p:ext uri="{BB962C8B-B14F-4D97-AF65-F5344CB8AC3E}">
        <p14:creationId xmlns:p14="http://schemas.microsoft.com/office/powerpoint/2010/main" val="958170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944F6-2EAF-E52E-53BA-1DD3F677FD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892F75-4D6E-7D91-208A-BB056F99B8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BBFF51-F24A-E514-030C-25DA760129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B7D360-68DD-5276-97FF-28F8C57702B0}"/>
              </a:ext>
            </a:extLst>
          </p:cNvPr>
          <p:cNvSpPr>
            <a:spLocks noGrp="1"/>
          </p:cNvSpPr>
          <p:nvPr>
            <p:ph type="dt" sz="half" idx="10"/>
          </p:nvPr>
        </p:nvSpPr>
        <p:spPr/>
        <p:txBody>
          <a:bodyPr/>
          <a:lstStyle/>
          <a:p>
            <a:fld id="{ACB8089D-38EB-4BDF-81CD-816C35C9A44F}" type="datetimeFigureOut">
              <a:rPr lang="en-US" smtClean="0"/>
              <a:t>4/10/2025</a:t>
            </a:fld>
            <a:endParaRPr lang="en-US"/>
          </a:p>
        </p:txBody>
      </p:sp>
      <p:sp>
        <p:nvSpPr>
          <p:cNvPr id="6" name="Footer Placeholder 5">
            <a:extLst>
              <a:ext uri="{FF2B5EF4-FFF2-40B4-BE49-F238E27FC236}">
                <a16:creationId xmlns:a16="http://schemas.microsoft.com/office/drawing/2014/main" id="{83059753-19FC-9C9C-A784-035EEE7EAD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BBB9E5-030A-FC8D-B9D8-82A83523DF8B}"/>
              </a:ext>
            </a:extLst>
          </p:cNvPr>
          <p:cNvSpPr>
            <a:spLocks noGrp="1"/>
          </p:cNvSpPr>
          <p:nvPr>
            <p:ph type="sldNum" sz="quarter" idx="12"/>
          </p:nvPr>
        </p:nvSpPr>
        <p:spPr/>
        <p:txBody>
          <a:bodyPr/>
          <a:lstStyle/>
          <a:p>
            <a:fld id="{AD6BCF17-AFE9-48F5-AE94-D79351037967}" type="slidenum">
              <a:rPr lang="en-US" smtClean="0"/>
              <a:t>‹#›</a:t>
            </a:fld>
            <a:endParaRPr lang="en-US"/>
          </a:p>
        </p:txBody>
      </p:sp>
    </p:spTree>
    <p:extLst>
      <p:ext uri="{BB962C8B-B14F-4D97-AF65-F5344CB8AC3E}">
        <p14:creationId xmlns:p14="http://schemas.microsoft.com/office/powerpoint/2010/main" val="2050130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5052-2A5A-85D5-6739-433E5B6EC8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9A56EE-5084-AF8D-AABF-BCE48815C6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036470-1B42-A7C6-9F29-102231D856CC}"/>
              </a:ext>
            </a:extLst>
          </p:cNvPr>
          <p:cNvSpPr>
            <a:spLocks noGrp="1"/>
          </p:cNvSpPr>
          <p:nvPr>
            <p:ph type="dt" sz="half" idx="10"/>
          </p:nvPr>
        </p:nvSpPr>
        <p:spPr/>
        <p:txBody>
          <a:bodyPr/>
          <a:lstStyle/>
          <a:p>
            <a:fld id="{ACB8089D-38EB-4BDF-81CD-816C35C9A44F}" type="datetimeFigureOut">
              <a:rPr lang="en-US" smtClean="0"/>
              <a:t>4/10/2025</a:t>
            </a:fld>
            <a:endParaRPr lang="en-US"/>
          </a:p>
        </p:txBody>
      </p:sp>
      <p:sp>
        <p:nvSpPr>
          <p:cNvPr id="5" name="Footer Placeholder 4">
            <a:extLst>
              <a:ext uri="{FF2B5EF4-FFF2-40B4-BE49-F238E27FC236}">
                <a16:creationId xmlns:a16="http://schemas.microsoft.com/office/drawing/2014/main" id="{939DB469-DA1B-E281-B23F-CF858F2859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40ED9C-15D5-0FA8-FABB-DF59AA9FC9E9}"/>
              </a:ext>
            </a:extLst>
          </p:cNvPr>
          <p:cNvSpPr>
            <a:spLocks noGrp="1"/>
          </p:cNvSpPr>
          <p:nvPr>
            <p:ph type="sldNum" sz="quarter" idx="12"/>
          </p:nvPr>
        </p:nvSpPr>
        <p:spPr/>
        <p:txBody>
          <a:bodyPr/>
          <a:lstStyle/>
          <a:p>
            <a:fld id="{AD6BCF17-AFE9-48F5-AE94-D79351037967}" type="slidenum">
              <a:rPr lang="en-US" smtClean="0"/>
              <a:t>‹#›</a:t>
            </a:fld>
            <a:endParaRPr lang="en-US"/>
          </a:p>
        </p:txBody>
      </p:sp>
    </p:spTree>
    <p:extLst>
      <p:ext uri="{BB962C8B-B14F-4D97-AF65-F5344CB8AC3E}">
        <p14:creationId xmlns:p14="http://schemas.microsoft.com/office/powerpoint/2010/main" val="2069694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0A08F2-D86D-D22C-EF5F-E040A0073A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ACCE10-CE1D-21CC-4A2F-A98A5DF0E2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71B167-16EC-5666-6D3D-2CE1E228C258}"/>
              </a:ext>
            </a:extLst>
          </p:cNvPr>
          <p:cNvSpPr>
            <a:spLocks noGrp="1"/>
          </p:cNvSpPr>
          <p:nvPr>
            <p:ph type="dt" sz="half" idx="10"/>
          </p:nvPr>
        </p:nvSpPr>
        <p:spPr/>
        <p:txBody>
          <a:bodyPr/>
          <a:lstStyle/>
          <a:p>
            <a:fld id="{ACB8089D-38EB-4BDF-81CD-816C35C9A44F}" type="datetimeFigureOut">
              <a:rPr lang="en-US" smtClean="0"/>
              <a:t>4/10/2025</a:t>
            </a:fld>
            <a:endParaRPr lang="en-US"/>
          </a:p>
        </p:txBody>
      </p:sp>
      <p:sp>
        <p:nvSpPr>
          <p:cNvPr id="5" name="Footer Placeholder 4">
            <a:extLst>
              <a:ext uri="{FF2B5EF4-FFF2-40B4-BE49-F238E27FC236}">
                <a16:creationId xmlns:a16="http://schemas.microsoft.com/office/drawing/2014/main" id="{E588CA09-455B-9098-4A73-8B051FFB55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3E1B2E-3167-E6FE-61E2-D8CA8E8D1182}"/>
              </a:ext>
            </a:extLst>
          </p:cNvPr>
          <p:cNvSpPr>
            <a:spLocks noGrp="1"/>
          </p:cNvSpPr>
          <p:nvPr>
            <p:ph type="sldNum" sz="quarter" idx="12"/>
          </p:nvPr>
        </p:nvSpPr>
        <p:spPr/>
        <p:txBody>
          <a:bodyPr/>
          <a:lstStyle/>
          <a:p>
            <a:fld id="{AD6BCF17-AFE9-48F5-AE94-D79351037967}" type="slidenum">
              <a:rPr lang="en-US" smtClean="0"/>
              <a:t>‹#›</a:t>
            </a:fld>
            <a:endParaRPr lang="en-US"/>
          </a:p>
        </p:txBody>
      </p:sp>
    </p:spTree>
    <p:extLst>
      <p:ext uri="{BB962C8B-B14F-4D97-AF65-F5344CB8AC3E}">
        <p14:creationId xmlns:p14="http://schemas.microsoft.com/office/powerpoint/2010/main" val="1883286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B0FF4E-14CE-A5D3-3000-76C252F4E9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A3F70E-4B6B-6E11-04E2-0B82CBFA91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D696B4-D5F6-F055-BCFF-2E02F1B8B8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B8089D-38EB-4BDF-81CD-816C35C9A44F}" type="datetimeFigureOut">
              <a:rPr lang="en-US" smtClean="0"/>
              <a:t>4/10/2025</a:t>
            </a:fld>
            <a:endParaRPr lang="en-US"/>
          </a:p>
        </p:txBody>
      </p:sp>
      <p:sp>
        <p:nvSpPr>
          <p:cNvPr id="5" name="Footer Placeholder 4">
            <a:extLst>
              <a:ext uri="{FF2B5EF4-FFF2-40B4-BE49-F238E27FC236}">
                <a16:creationId xmlns:a16="http://schemas.microsoft.com/office/drawing/2014/main" id="{E9B0B3A7-54B7-AF1E-F24B-B329045941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A256A23-0BF4-6DFC-4CC4-2D2FF375D8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D6BCF17-AFE9-48F5-AE94-D79351037967}" type="slidenum">
              <a:rPr lang="en-US" smtClean="0"/>
              <a:t>‹#›</a:t>
            </a:fld>
            <a:endParaRPr lang="en-US"/>
          </a:p>
        </p:txBody>
      </p:sp>
    </p:spTree>
    <p:extLst>
      <p:ext uri="{BB962C8B-B14F-4D97-AF65-F5344CB8AC3E}">
        <p14:creationId xmlns:p14="http://schemas.microsoft.com/office/powerpoint/2010/main" val="1906975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orc.library.atu.edu/liquidambar/2/"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wisc.pb.unizin.org/chem109fall2021ver02/chapter/fuel-cells/"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microsoft.com/office/2018/10/relationships/comments" Target="../comments/modernComment_10D_9A44D32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E319"/>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0233912-490B-C3A8-C453-4B51165D9379}"/>
              </a:ext>
            </a:extLst>
          </p:cNvPr>
          <p:cNvSpPr/>
          <p:nvPr/>
        </p:nvSpPr>
        <p:spPr>
          <a:xfrm>
            <a:off x="4820478" y="4919869"/>
            <a:ext cx="2534478" cy="364434"/>
          </a:xfrm>
          <a:prstGeom prst="flowChartManualOperation">
            <a:avLst/>
          </a:prstGeom>
          <a:solidFill>
            <a:srgbClr val="E7EBE8"/>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22E6E9-9AF2-8274-1202-1D0B662ADC18}"/>
              </a:ext>
            </a:extLst>
          </p:cNvPr>
          <p:cNvSpPr/>
          <p:nvPr/>
        </p:nvSpPr>
        <p:spPr>
          <a:xfrm>
            <a:off x="0" y="0"/>
            <a:ext cx="12192000" cy="2353456"/>
          </a:xfrm>
          <a:prstGeom prst="rect">
            <a:avLst/>
          </a:prstGeom>
          <a:solidFill>
            <a:srgbClr val="072D2A"/>
          </a:solidFill>
          <a:ln>
            <a:solidFill>
              <a:srgbClr val="072D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New Roman"/>
                <a:cs typeface="Times New Roman"/>
              </a:rPr>
              <a:t>Impact of Anomaly Detection on Hydrogen Fuel Cells </a:t>
            </a:r>
          </a:p>
          <a:p>
            <a:pPr algn="ctr"/>
            <a:r>
              <a:rPr lang="en-US" sz="4000" dirty="0">
                <a:latin typeface="Times New Roman"/>
                <a:cs typeface="Times New Roman"/>
              </a:rPr>
              <a:t>with Machine Learning  </a:t>
            </a:r>
            <a:br>
              <a:rPr lang="en-US" sz="3200" dirty="0">
                <a:latin typeface="Times New Roman"/>
                <a:cs typeface="Times New Roman"/>
              </a:rPr>
            </a:br>
            <a:endParaRPr lang="en-US" sz="3200" dirty="0">
              <a:latin typeface="Times New Roman"/>
              <a:cs typeface="Times New Roman"/>
            </a:endParaRPr>
          </a:p>
        </p:txBody>
      </p:sp>
      <p:pic>
        <p:nvPicPr>
          <p:cNvPr id="7" name="Picture 6" descr="A green and white sign with white text&#10;&#10;AI-generated content may be incorrect.">
            <a:extLst>
              <a:ext uri="{FF2B5EF4-FFF2-40B4-BE49-F238E27FC236}">
                <a16:creationId xmlns:a16="http://schemas.microsoft.com/office/drawing/2014/main" id="{662B7EC8-E0D3-B735-A382-12DCC7DD83C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b="8782"/>
          <a:stretch/>
        </p:blipFill>
        <p:spPr>
          <a:xfrm>
            <a:off x="94561" y="1113666"/>
            <a:ext cx="2529768" cy="1067262"/>
          </a:xfrm>
          <a:prstGeom prst="rect">
            <a:avLst/>
          </a:prstGeom>
        </p:spPr>
      </p:pic>
      <p:sp>
        <p:nvSpPr>
          <p:cNvPr id="9" name="Rectangle 8">
            <a:extLst>
              <a:ext uri="{FF2B5EF4-FFF2-40B4-BE49-F238E27FC236}">
                <a16:creationId xmlns:a16="http://schemas.microsoft.com/office/drawing/2014/main" id="{66BDBC2F-3759-D3CB-E056-078056DB7B8B}"/>
              </a:ext>
            </a:extLst>
          </p:cNvPr>
          <p:cNvSpPr/>
          <p:nvPr/>
        </p:nvSpPr>
        <p:spPr>
          <a:xfrm>
            <a:off x="1693333" y="2548329"/>
            <a:ext cx="2719374" cy="2360443"/>
          </a:xfrm>
          <a:prstGeom prst="rect">
            <a:avLst/>
          </a:prstGeom>
          <a:solidFill>
            <a:srgbClr val="072D2A"/>
          </a:solidFill>
          <a:ln w="28575">
            <a:solidFill>
              <a:srgbClr val="FFE319"/>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Times New Roman"/>
                <a:cs typeface="Times New Roman"/>
              </a:rPr>
              <a:t>Dillon Wood</a:t>
            </a:r>
          </a:p>
          <a:p>
            <a:pPr algn="ctr"/>
            <a:r>
              <a:rPr lang="en-US" dirty="0">
                <a:latin typeface="Times New Roman"/>
                <a:cs typeface="Times New Roman"/>
              </a:rPr>
              <a:t>B.S. Electrical Engineering</a:t>
            </a:r>
          </a:p>
          <a:p>
            <a:pPr algn="ctr"/>
            <a:r>
              <a:rPr lang="en-US" dirty="0">
                <a:latin typeface="Times New Roman"/>
                <a:cs typeface="Times New Roman"/>
              </a:rPr>
              <a:t>Arkansas Tech</a:t>
            </a:r>
          </a:p>
          <a:p>
            <a:pPr algn="ctr"/>
            <a:r>
              <a:rPr lang="en-US" dirty="0">
                <a:latin typeface="Times New Roman"/>
                <a:cs typeface="Times New Roman"/>
              </a:rPr>
              <a:t>University</a:t>
            </a:r>
          </a:p>
          <a:p>
            <a:pPr algn="ctr"/>
            <a:r>
              <a:rPr lang="en-US" dirty="0">
                <a:latin typeface="Times New Roman"/>
                <a:cs typeface="Times New Roman"/>
              </a:rPr>
              <a:t>Russellville, AR, USA</a:t>
            </a:r>
          </a:p>
          <a:p>
            <a:pPr algn="ctr"/>
            <a:r>
              <a:rPr lang="en-US" dirty="0">
                <a:latin typeface="Times New Roman"/>
                <a:cs typeface="Times New Roman"/>
              </a:rPr>
              <a:t>dwood16@atu.edu</a:t>
            </a:r>
          </a:p>
        </p:txBody>
      </p:sp>
      <p:sp>
        <p:nvSpPr>
          <p:cNvPr id="18" name="Rectangle 17">
            <a:extLst>
              <a:ext uri="{FF2B5EF4-FFF2-40B4-BE49-F238E27FC236}">
                <a16:creationId xmlns:a16="http://schemas.microsoft.com/office/drawing/2014/main" id="{39E2CDB0-C2AA-7D5C-93F6-C5803F79711B}"/>
              </a:ext>
            </a:extLst>
          </p:cNvPr>
          <p:cNvSpPr/>
          <p:nvPr/>
        </p:nvSpPr>
        <p:spPr>
          <a:xfrm>
            <a:off x="4785702" y="2548329"/>
            <a:ext cx="2620596" cy="2360443"/>
          </a:xfrm>
          <a:prstGeom prst="rect">
            <a:avLst/>
          </a:prstGeom>
          <a:solidFill>
            <a:srgbClr val="072D2A"/>
          </a:solidFill>
          <a:ln w="28575">
            <a:solidFill>
              <a:srgbClr val="FFE319"/>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Times New Roman"/>
                <a:cs typeface="Times New Roman"/>
              </a:rPr>
              <a:t>Benjamin Leon</a:t>
            </a:r>
          </a:p>
          <a:p>
            <a:pPr algn="ctr"/>
            <a:r>
              <a:rPr lang="en-US" dirty="0">
                <a:latin typeface="Times New Roman"/>
                <a:cs typeface="Times New Roman"/>
              </a:rPr>
              <a:t>B.S. Electrical Engineering – Biomedical </a:t>
            </a:r>
          </a:p>
          <a:p>
            <a:pPr algn="ctr"/>
            <a:r>
              <a:rPr lang="en-US" dirty="0">
                <a:latin typeface="Times New Roman"/>
                <a:cs typeface="Times New Roman"/>
              </a:rPr>
              <a:t>Arkansas Tech</a:t>
            </a:r>
          </a:p>
          <a:p>
            <a:pPr algn="ctr"/>
            <a:r>
              <a:rPr lang="en-US" dirty="0">
                <a:latin typeface="Times New Roman"/>
                <a:cs typeface="Times New Roman"/>
              </a:rPr>
              <a:t>University</a:t>
            </a:r>
          </a:p>
          <a:p>
            <a:pPr algn="ctr"/>
            <a:r>
              <a:rPr lang="en-US" dirty="0">
                <a:latin typeface="Times New Roman"/>
                <a:cs typeface="Times New Roman"/>
              </a:rPr>
              <a:t>Russellville, AR, USA</a:t>
            </a:r>
          </a:p>
          <a:p>
            <a:pPr algn="ctr"/>
            <a:r>
              <a:rPr lang="en-US" dirty="0">
                <a:latin typeface="Times New Roman"/>
                <a:cs typeface="Times New Roman"/>
              </a:rPr>
              <a:t>bleon1@atu.edu</a:t>
            </a:r>
          </a:p>
        </p:txBody>
      </p:sp>
      <p:sp>
        <p:nvSpPr>
          <p:cNvPr id="19" name="Rectangle 18">
            <a:extLst>
              <a:ext uri="{FF2B5EF4-FFF2-40B4-BE49-F238E27FC236}">
                <a16:creationId xmlns:a16="http://schemas.microsoft.com/office/drawing/2014/main" id="{CE2E7255-3EEE-2C24-9B0F-64C65FDA8C8D}"/>
              </a:ext>
            </a:extLst>
          </p:cNvPr>
          <p:cNvSpPr/>
          <p:nvPr/>
        </p:nvSpPr>
        <p:spPr>
          <a:xfrm>
            <a:off x="7765182" y="2548330"/>
            <a:ext cx="2613258" cy="2360443"/>
          </a:xfrm>
          <a:prstGeom prst="rect">
            <a:avLst/>
          </a:prstGeom>
          <a:solidFill>
            <a:srgbClr val="072D2A"/>
          </a:solidFill>
          <a:ln w="28575">
            <a:solidFill>
              <a:srgbClr val="FFE319"/>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Times New Roman"/>
                <a:cs typeface="Times New Roman"/>
              </a:rPr>
              <a:t>Ethan Mashburn</a:t>
            </a:r>
          </a:p>
          <a:p>
            <a:pPr algn="ctr"/>
            <a:r>
              <a:rPr lang="en-US" dirty="0">
                <a:latin typeface="Times New Roman"/>
                <a:cs typeface="Times New Roman"/>
              </a:rPr>
              <a:t>B.S. Electrical Engineering</a:t>
            </a:r>
          </a:p>
          <a:p>
            <a:pPr algn="ctr"/>
            <a:r>
              <a:rPr lang="en-US" dirty="0">
                <a:latin typeface="Times New Roman"/>
                <a:cs typeface="Times New Roman"/>
              </a:rPr>
              <a:t>Arkansas Tech</a:t>
            </a:r>
          </a:p>
          <a:p>
            <a:pPr algn="ctr"/>
            <a:r>
              <a:rPr lang="en-US" dirty="0">
                <a:latin typeface="Times New Roman"/>
                <a:cs typeface="Times New Roman"/>
              </a:rPr>
              <a:t>University</a:t>
            </a:r>
          </a:p>
          <a:p>
            <a:pPr algn="ctr"/>
            <a:r>
              <a:rPr lang="en-US" dirty="0">
                <a:latin typeface="Times New Roman"/>
                <a:cs typeface="Times New Roman"/>
              </a:rPr>
              <a:t>Russellville, AR, USA</a:t>
            </a:r>
          </a:p>
          <a:p>
            <a:pPr algn="ctr"/>
            <a:r>
              <a:rPr lang="en-US" dirty="0">
                <a:latin typeface="Times New Roman"/>
                <a:cs typeface="Times New Roman"/>
              </a:rPr>
              <a:t>emashburn@atu.edu</a:t>
            </a:r>
          </a:p>
        </p:txBody>
      </p:sp>
      <p:graphicFrame>
        <p:nvGraphicFramePr>
          <p:cNvPr id="2" name="Table 1">
            <a:extLst>
              <a:ext uri="{FF2B5EF4-FFF2-40B4-BE49-F238E27FC236}">
                <a16:creationId xmlns:a16="http://schemas.microsoft.com/office/drawing/2014/main" id="{37BE9036-854C-418D-9EE4-74F2D6C633C4}"/>
              </a:ext>
            </a:extLst>
          </p:cNvPr>
          <p:cNvGraphicFramePr>
            <a:graphicFrameLocks noGrp="1"/>
          </p:cNvGraphicFramePr>
          <p:nvPr>
            <p:extLst>
              <p:ext uri="{D42A27DB-BD31-4B8C-83A1-F6EECF244321}">
                <p14:modId xmlns:p14="http://schemas.microsoft.com/office/powerpoint/2010/main" val="157534642"/>
              </p:ext>
            </p:extLst>
          </p:nvPr>
        </p:nvGraphicFramePr>
        <p:xfrm>
          <a:off x="2017888" y="5306043"/>
          <a:ext cx="8168640" cy="1463040"/>
        </p:xfrm>
        <a:graphic>
          <a:graphicData uri="http://schemas.openxmlformats.org/drawingml/2006/table">
            <a:tbl>
              <a:tblPr firstRow="1" bandRow="1">
                <a:tableStyleId>{5C22544A-7EE6-4342-B048-85BDC9FD1C3A}</a:tableStyleId>
              </a:tblPr>
              <a:tblGrid>
                <a:gridCol w="4084320">
                  <a:extLst>
                    <a:ext uri="{9D8B030D-6E8A-4147-A177-3AD203B41FA5}">
                      <a16:colId xmlns:a16="http://schemas.microsoft.com/office/drawing/2014/main" val="3196798940"/>
                    </a:ext>
                  </a:extLst>
                </a:gridCol>
                <a:gridCol w="4084320">
                  <a:extLst>
                    <a:ext uri="{9D8B030D-6E8A-4147-A177-3AD203B41FA5}">
                      <a16:colId xmlns:a16="http://schemas.microsoft.com/office/drawing/2014/main" val="1444225719"/>
                    </a:ext>
                  </a:extLst>
                </a:gridCol>
              </a:tblGrid>
              <a:tr h="646256">
                <a:tc>
                  <a:txBody>
                    <a:bodyPr/>
                    <a:lstStyle/>
                    <a:p>
                      <a:pPr algn="ctr"/>
                      <a:r>
                        <a:rPr lang="en-US" dirty="0">
                          <a:latin typeface="Times New Roman"/>
                        </a:rPr>
                        <a:t>Dr. Afsana Ahamed</a:t>
                      </a:r>
                    </a:p>
                    <a:p>
                      <a:pPr lvl="0" algn="ctr">
                        <a:buNone/>
                      </a:pPr>
                      <a:r>
                        <a:rPr lang="en-US" b="0" dirty="0">
                          <a:latin typeface="Times New Roman"/>
                        </a:rPr>
                        <a:t>Department of Electrical Engineering</a:t>
                      </a:r>
                    </a:p>
                    <a:p>
                      <a:pPr lvl="0" algn="ctr">
                        <a:buNone/>
                      </a:pPr>
                      <a:r>
                        <a:rPr lang="en-US" b="0" dirty="0">
                          <a:latin typeface="Times New Roman"/>
                        </a:rPr>
                        <a:t>Arkansas Tech</a:t>
                      </a:r>
                    </a:p>
                    <a:p>
                      <a:pPr lvl="0" algn="ctr">
                        <a:buNone/>
                      </a:pPr>
                      <a:r>
                        <a:rPr lang="en-US" b="0" dirty="0">
                          <a:latin typeface="Times New Roman"/>
                        </a:rPr>
                        <a:t>Russellville, AR, USA</a:t>
                      </a:r>
                    </a:p>
                    <a:p>
                      <a:pPr lvl="0" algn="ctr">
                        <a:buNone/>
                      </a:pPr>
                      <a:r>
                        <a:rPr lang="en-US" b="0" dirty="0">
                          <a:latin typeface="Times New Roman"/>
                        </a:rPr>
                        <a:t>aahmed@atu.edu</a:t>
                      </a:r>
                    </a:p>
                  </a:txBody>
                  <a:tcPr>
                    <a:solidFill>
                      <a:srgbClr val="072D2A"/>
                    </a:solidFill>
                  </a:tcPr>
                </a:tc>
                <a:tc>
                  <a:txBody>
                    <a:bodyPr/>
                    <a:lstStyle/>
                    <a:p>
                      <a:pPr algn="ctr"/>
                      <a:r>
                        <a:rPr lang="en-US" dirty="0">
                          <a:latin typeface="Times New Roman"/>
                        </a:rPr>
                        <a:t>Dr. Ehsan Hosseini</a:t>
                      </a:r>
                    </a:p>
                    <a:p>
                      <a:pPr lvl="0" algn="ctr">
                        <a:buNone/>
                      </a:pPr>
                      <a:r>
                        <a:rPr lang="en-US" b="0" dirty="0">
                          <a:latin typeface="Times New Roman"/>
                        </a:rPr>
                        <a:t>Department of Mechanical Engineering</a:t>
                      </a:r>
                    </a:p>
                    <a:p>
                      <a:pPr lvl="0" algn="ctr">
                        <a:buNone/>
                      </a:pPr>
                      <a:r>
                        <a:rPr lang="en-US" b="0" dirty="0">
                          <a:latin typeface="Times New Roman"/>
                        </a:rPr>
                        <a:t>Arkansas Tech</a:t>
                      </a:r>
                    </a:p>
                    <a:p>
                      <a:pPr lvl="0" algn="ctr">
                        <a:buNone/>
                      </a:pPr>
                      <a:r>
                        <a:rPr lang="en-US" b="0" dirty="0">
                          <a:latin typeface="Times New Roman"/>
                        </a:rPr>
                        <a:t>Russellville,  AR, USA</a:t>
                      </a:r>
                    </a:p>
                    <a:p>
                      <a:pPr lvl="0" algn="ctr">
                        <a:buNone/>
                      </a:pPr>
                      <a:r>
                        <a:rPr lang="en-US" b="0" dirty="0">
                          <a:latin typeface="Times New Roman"/>
                        </a:rPr>
                        <a:t>shosseini@atu.edu</a:t>
                      </a:r>
                    </a:p>
                  </a:txBody>
                  <a:tcPr>
                    <a:solidFill>
                      <a:srgbClr val="072D2A"/>
                    </a:solidFill>
                  </a:tcPr>
                </a:tc>
                <a:extLst>
                  <a:ext uri="{0D108BD9-81ED-4DB2-BD59-A6C34878D82A}">
                    <a16:rowId xmlns:a16="http://schemas.microsoft.com/office/drawing/2014/main" val="824842307"/>
                  </a:ext>
                </a:extLst>
              </a:tr>
            </a:tbl>
          </a:graphicData>
        </a:graphic>
      </p:graphicFrame>
      <p:sp>
        <p:nvSpPr>
          <p:cNvPr id="3" name="TextBox 2">
            <a:extLst>
              <a:ext uri="{FF2B5EF4-FFF2-40B4-BE49-F238E27FC236}">
                <a16:creationId xmlns:a16="http://schemas.microsoft.com/office/drawing/2014/main" id="{9B57686C-5C4E-5091-D5D8-C417C7D0545F}"/>
              </a:ext>
            </a:extLst>
          </p:cNvPr>
          <p:cNvSpPr txBox="1"/>
          <p:nvPr/>
        </p:nvSpPr>
        <p:spPr>
          <a:xfrm>
            <a:off x="5519342" y="4912055"/>
            <a:ext cx="114862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1">
                <a:latin typeface="Times New Roman"/>
                <a:cs typeface="Times New Roman"/>
              </a:rPr>
              <a:t>Mentors</a:t>
            </a:r>
          </a:p>
        </p:txBody>
      </p:sp>
      <p:pic>
        <p:nvPicPr>
          <p:cNvPr id="1026" name="Picture 2" descr="ASGC">
            <a:extLst>
              <a:ext uri="{FF2B5EF4-FFF2-40B4-BE49-F238E27FC236}">
                <a16:creationId xmlns:a16="http://schemas.microsoft.com/office/drawing/2014/main" id="{DDAD9D00-4386-8FCC-74F7-FBD88B6F1A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8440" y="1023872"/>
            <a:ext cx="1157056" cy="1157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72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EEC98-B57D-565C-FDE2-31532AD4B969}"/>
              </a:ext>
            </a:extLst>
          </p:cNvPr>
          <p:cNvSpPr>
            <a:spLocks noGrp="1"/>
          </p:cNvSpPr>
          <p:nvPr>
            <p:ph type="title"/>
          </p:nvPr>
        </p:nvSpPr>
        <p:spPr>
          <a:xfrm>
            <a:off x="223603" y="185243"/>
            <a:ext cx="10515600" cy="1325563"/>
          </a:xfrm>
        </p:spPr>
        <p:txBody>
          <a:bodyPr/>
          <a:lstStyle/>
          <a:p>
            <a:r>
              <a:rPr lang="en-US">
                <a:latin typeface="Times New Roman"/>
                <a:cs typeface="Times New Roman"/>
              </a:rPr>
              <a:t>Hydrogen Fuel Cells</a:t>
            </a:r>
          </a:p>
        </p:txBody>
      </p:sp>
      <p:sp>
        <p:nvSpPr>
          <p:cNvPr id="3" name="Content Placeholder 2">
            <a:extLst>
              <a:ext uri="{FF2B5EF4-FFF2-40B4-BE49-F238E27FC236}">
                <a16:creationId xmlns:a16="http://schemas.microsoft.com/office/drawing/2014/main" id="{9C31D34E-DCFF-5D2F-AFAA-772E42E74E54}"/>
              </a:ext>
            </a:extLst>
          </p:cNvPr>
          <p:cNvSpPr>
            <a:spLocks noGrp="1"/>
          </p:cNvSpPr>
          <p:nvPr>
            <p:ph idx="1"/>
          </p:nvPr>
        </p:nvSpPr>
        <p:spPr>
          <a:xfrm>
            <a:off x="223603" y="1355584"/>
            <a:ext cx="5986813" cy="4351338"/>
          </a:xfrm>
        </p:spPr>
        <p:txBody>
          <a:bodyPr vert="horz" lIns="91440" tIns="45720" rIns="91440" bIns="45720" rtlCol="0" anchor="t">
            <a:noAutofit/>
          </a:bodyPr>
          <a:lstStyle/>
          <a:p>
            <a:pPr marL="0" indent="0">
              <a:buNone/>
            </a:pPr>
            <a:r>
              <a:rPr lang="en-US" sz="2000" b="1" dirty="0">
                <a:latin typeface="Times New Roman"/>
                <a:cs typeface="Times New Roman"/>
              </a:rPr>
              <a:t>Importance of Hydrogen Fuel Cells</a:t>
            </a:r>
          </a:p>
          <a:p>
            <a:r>
              <a:rPr lang="en-US" sz="2000" dirty="0">
                <a:latin typeface="Times New Roman"/>
                <a:cs typeface="Times New Roman"/>
              </a:rPr>
              <a:t>Critical technology for sustainable energy solutions and carbon-free projects</a:t>
            </a:r>
          </a:p>
          <a:p>
            <a:r>
              <a:rPr lang="en-US" sz="2000" dirty="0">
                <a:latin typeface="Times New Roman"/>
                <a:cs typeface="Times New Roman"/>
              </a:rPr>
              <a:t>Clean, efficient, and renewable energy source</a:t>
            </a:r>
          </a:p>
          <a:p>
            <a:r>
              <a:rPr lang="en-US" sz="2000" dirty="0">
                <a:latin typeface="Times New Roman"/>
                <a:cs typeface="Times New Roman"/>
              </a:rPr>
              <a:t>Key technology for electric vehicles, space missions, and grid storage</a:t>
            </a:r>
          </a:p>
          <a:p>
            <a:r>
              <a:rPr lang="en-US" sz="2000" dirty="0">
                <a:latin typeface="Times New Roman"/>
                <a:cs typeface="Times New Roman"/>
              </a:rPr>
              <a:t>Performance and safety depend on early detection of failures or degradation</a:t>
            </a:r>
          </a:p>
          <a:p>
            <a:pPr marL="0" indent="0">
              <a:buNone/>
            </a:pPr>
            <a:r>
              <a:rPr lang="en-US" sz="2000" b="1" dirty="0">
                <a:latin typeface="Times New Roman"/>
                <a:cs typeface="Times New Roman"/>
              </a:rPr>
              <a:t>Why The Use of Machine Learning (ML)</a:t>
            </a:r>
          </a:p>
          <a:p>
            <a:r>
              <a:rPr lang="en-US" sz="2000" dirty="0">
                <a:latin typeface="Times New Roman"/>
                <a:cs typeface="Times New Roman"/>
              </a:rPr>
              <a:t>Fuel cell data is complex and is time-series based</a:t>
            </a:r>
          </a:p>
          <a:p>
            <a:r>
              <a:rPr lang="en-US" sz="2000" dirty="0">
                <a:latin typeface="Times New Roman"/>
                <a:cs typeface="Times New Roman"/>
              </a:rPr>
              <a:t>Traditional threshold-based monitoring may miss subtle failures</a:t>
            </a:r>
          </a:p>
          <a:p>
            <a:r>
              <a:rPr lang="en-US" sz="2000" dirty="0">
                <a:latin typeface="Times New Roman"/>
                <a:cs typeface="Times New Roman"/>
              </a:rPr>
              <a:t>ML can learn patterns and detect outliers automatically. </a:t>
            </a:r>
          </a:p>
        </p:txBody>
      </p:sp>
      <p:pic>
        <p:nvPicPr>
          <p:cNvPr id="7" name="Picture 6" descr="Diagram of a diagram of a cell&#10;&#10;AI-generated content may be incorrect.">
            <a:extLst>
              <a:ext uri="{FF2B5EF4-FFF2-40B4-BE49-F238E27FC236}">
                <a16:creationId xmlns:a16="http://schemas.microsoft.com/office/drawing/2014/main" id="{4D936088-7FAF-EDF9-14D9-3DF78B7C06BC}"/>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210416" y="1255481"/>
            <a:ext cx="5839177" cy="4016022"/>
          </a:xfrm>
          <a:prstGeom prst="rect">
            <a:avLst/>
          </a:prstGeom>
        </p:spPr>
      </p:pic>
    </p:spTree>
    <p:extLst>
      <p:ext uri="{BB962C8B-B14F-4D97-AF65-F5344CB8AC3E}">
        <p14:creationId xmlns:p14="http://schemas.microsoft.com/office/powerpoint/2010/main" val="428006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B5B5D-2350-B603-D70B-BA86C12518B7}"/>
              </a:ext>
            </a:extLst>
          </p:cNvPr>
          <p:cNvSpPr>
            <a:spLocks noGrp="1"/>
          </p:cNvSpPr>
          <p:nvPr>
            <p:ph idx="1"/>
          </p:nvPr>
        </p:nvSpPr>
        <p:spPr>
          <a:xfrm>
            <a:off x="258845" y="344491"/>
            <a:ext cx="5842160" cy="3595993"/>
          </a:xfrm>
        </p:spPr>
        <p:txBody>
          <a:bodyPr vert="horz" lIns="91440" tIns="45720" rIns="91440" bIns="45720" rtlCol="0" anchor="t">
            <a:normAutofit/>
          </a:bodyPr>
          <a:lstStyle/>
          <a:p>
            <a:pPr marL="0" indent="0">
              <a:buNone/>
            </a:pPr>
            <a:r>
              <a:rPr lang="en-US" sz="2400" b="1" dirty="0">
                <a:latin typeface="Times New Roman"/>
                <a:cs typeface="Times New Roman"/>
              </a:rPr>
              <a:t>The Problem: Degradation in Hydrogen Fuel Cell Performance</a:t>
            </a:r>
            <a:endParaRPr lang="en-US" sz="2400" dirty="0">
              <a:latin typeface="Times New Roman"/>
              <a:cs typeface="Times New Roman"/>
            </a:endParaRPr>
          </a:p>
          <a:p>
            <a:pPr marL="342900" indent="-342900"/>
            <a:r>
              <a:rPr lang="en-US" sz="2400" dirty="0">
                <a:latin typeface="Times New Roman"/>
                <a:cs typeface="Times New Roman"/>
              </a:rPr>
              <a:t>Chemical</a:t>
            </a:r>
            <a:r>
              <a:rPr lang="en-US" sz="2400" dirty="0">
                <a:latin typeface="Times New Roman"/>
                <a:ea typeface="+mn-lt"/>
                <a:cs typeface="+mn-lt"/>
              </a:rPr>
              <a:t> and thermal stress, Electrode wear and membrane thinning, Contamination or corrosion in components</a:t>
            </a:r>
            <a:endParaRPr lang="en-US" sz="2400" dirty="0">
              <a:latin typeface="Times New Roman"/>
              <a:cs typeface="Times New Roman"/>
            </a:endParaRPr>
          </a:p>
          <a:p>
            <a:r>
              <a:rPr lang="en-US" sz="2400" dirty="0">
                <a:latin typeface="Times New Roman"/>
                <a:ea typeface="+mn-lt"/>
                <a:cs typeface="+mn-lt"/>
              </a:rPr>
              <a:t> This degradation often starts with </a:t>
            </a:r>
            <a:r>
              <a:rPr lang="en-US" sz="2400" b="1" dirty="0">
                <a:latin typeface="Times New Roman"/>
                <a:ea typeface="+mn-lt"/>
                <a:cs typeface="+mn-lt"/>
              </a:rPr>
              <a:t>subtle anomalies</a:t>
            </a:r>
            <a:r>
              <a:rPr lang="en-US" sz="2400" dirty="0">
                <a:latin typeface="Times New Roman"/>
                <a:ea typeface="+mn-lt"/>
                <a:cs typeface="+mn-lt"/>
              </a:rPr>
              <a:t> in voltage, current, or impedance during regular charge/discharge cycles.</a:t>
            </a:r>
            <a:endParaRPr lang="en-US" sz="2400" dirty="0">
              <a:latin typeface="Times New Roman"/>
              <a:cs typeface="Times New Roman"/>
            </a:endParaRPr>
          </a:p>
          <a:p>
            <a:pPr marL="0" indent="0">
              <a:buNone/>
            </a:pPr>
            <a:endParaRPr lang="en-US" b="1" dirty="0">
              <a:latin typeface="Times New Roman"/>
              <a:cs typeface="Times New Roman"/>
            </a:endParaRPr>
          </a:p>
          <a:p>
            <a:pPr marL="0" indent="0">
              <a:buNone/>
            </a:pPr>
            <a:endParaRPr lang="en-US" sz="2400" dirty="0">
              <a:solidFill>
                <a:schemeClr val="bg1"/>
              </a:solidFill>
              <a:latin typeface="Times New Roman"/>
              <a:cs typeface="Times New Roman"/>
            </a:endParaRPr>
          </a:p>
        </p:txBody>
      </p:sp>
      <p:sp>
        <p:nvSpPr>
          <p:cNvPr id="2" name="TextBox 1">
            <a:extLst>
              <a:ext uri="{FF2B5EF4-FFF2-40B4-BE49-F238E27FC236}">
                <a16:creationId xmlns:a16="http://schemas.microsoft.com/office/drawing/2014/main" id="{7DF7705E-693B-C4DE-236D-AC321C40EE84}"/>
              </a:ext>
            </a:extLst>
          </p:cNvPr>
          <p:cNvSpPr txBox="1"/>
          <p:nvPr/>
        </p:nvSpPr>
        <p:spPr>
          <a:xfrm>
            <a:off x="263052" y="3590079"/>
            <a:ext cx="5625009" cy="31116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US" sz="2400" b="1" dirty="0">
                <a:latin typeface="Times New Roman"/>
                <a:cs typeface="Times New Roman"/>
              </a:rPr>
              <a:t>The Opportunity: Real-Time Learning Through Anomaly Detection</a:t>
            </a:r>
            <a:endParaRPr lang="en-US" sz="2400" dirty="0">
              <a:latin typeface="Times New Roman"/>
              <a:cs typeface="Times New Roman"/>
            </a:endParaRPr>
          </a:p>
          <a:p>
            <a:pPr marL="457200" indent="-457200">
              <a:lnSpc>
                <a:spcPct val="90000"/>
              </a:lnSpc>
              <a:spcBef>
                <a:spcPts val="1000"/>
              </a:spcBef>
              <a:buFont typeface="Arial"/>
              <a:buChar char="•"/>
            </a:pPr>
            <a:r>
              <a:rPr lang="en-US" sz="2400" dirty="0">
                <a:latin typeface="Times New Roman"/>
                <a:cs typeface="Times New Roman"/>
              </a:rPr>
              <a:t>Optimize Maintenance Schedules (based off battery health)</a:t>
            </a:r>
          </a:p>
          <a:p>
            <a:pPr marL="457200" indent="-457200">
              <a:lnSpc>
                <a:spcPct val="90000"/>
              </a:lnSpc>
              <a:spcBef>
                <a:spcPts val="1000"/>
              </a:spcBef>
              <a:buFont typeface="Arial"/>
              <a:buChar char="•"/>
            </a:pPr>
            <a:r>
              <a:rPr lang="en-US" sz="2400" dirty="0">
                <a:latin typeface="Times New Roman"/>
                <a:cs typeface="Times New Roman"/>
              </a:rPr>
              <a:t>Refine Future Battery Designs and Usage Protocols </a:t>
            </a:r>
          </a:p>
          <a:p>
            <a:pPr marL="457200" indent="-457200">
              <a:lnSpc>
                <a:spcPct val="90000"/>
              </a:lnSpc>
              <a:spcBef>
                <a:spcPts val="1000"/>
              </a:spcBef>
              <a:buFont typeface="Arial"/>
              <a:buChar char="•"/>
            </a:pPr>
            <a:r>
              <a:rPr lang="en-US" sz="2400" dirty="0">
                <a:latin typeface="Times New Roman"/>
                <a:cs typeface="Times New Roman"/>
              </a:rPr>
              <a:t>Inform Mission Planning</a:t>
            </a:r>
          </a:p>
          <a:p>
            <a:pPr algn="l"/>
            <a:endParaRPr lang="en-US" sz="2000" dirty="0">
              <a:solidFill>
                <a:schemeClr val="bg1"/>
              </a:solidFill>
              <a:latin typeface="Times New Roman"/>
              <a:cs typeface="Times New Roman"/>
            </a:endParaRPr>
          </a:p>
        </p:txBody>
      </p:sp>
      <p:pic>
        <p:nvPicPr>
          <p:cNvPr id="4" name="Picture 3" descr="Generated image">
            <a:extLst>
              <a:ext uri="{FF2B5EF4-FFF2-40B4-BE49-F238E27FC236}">
                <a16:creationId xmlns:a16="http://schemas.microsoft.com/office/drawing/2014/main" id="{4471680B-8908-DACB-7D72-958893525FF7}"/>
              </a:ext>
            </a:extLst>
          </p:cNvPr>
          <p:cNvPicPr>
            <a:picLocks noChangeAspect="1"/>
          </p:cNvPicPr>
          <p:nvPr/>
        </p:nvPicPr>
        <p:blipFill>
          <a:blip r:embed="rId2"/>
          <a:stretch>
            <a:fillRect/>
          </a:stretch>
        </p:blipFill>
        <p:spPr>
          <a:xfrm>
            <a:off x="6145440" y="207449"/>
            <a:ext cx="5853289" cy="3855156"/>
          </a:xfrm>
          <a:prstGeom prst="rect">
            <a:avLst/>
          </a:prstGeom>
        </p:spPr>
      </p:pic>
      <p:pic>
        <p:nvPicPr>
          <p:cNvPr id="5" name="Picture 4" descr="A diagram of a cell&#10;&#10;AI-generated content may be incorrect.">
            <a:extLst>
              <a:ext uri="{FF2B5EF4-FFF2-40B4-BE49-F238E27FC236}">
                <a16:creationId xmlns:a16="http://schemas.microsoft.com/office/drawing/2014/main" id="{92FCF87A-A8C1-28A5-F98B-2C51A27E48C6}"/>
              </a:ext>
            </a:extLst>
          </p:cNvPr>
          <p:cNvPicPr>
            <a:picLocks noChangeAspect="1"/>
          </p:cNvPicPr>
          <p:nvPr/>
        </p:nvPicPr>
        <p:blipFill>
          <a:blip r:embed="rId3"/>
          <a:stretch>
            <a:fillRect/>
          </a:stretch>
        </p:blipFill>
        <p:spPr>
          <a:xfrm>
            <a:off x="8040878" y="4065682"/>
            <a:ext cx="2261328" cy="2600900"/>
          </a:xfrm>
          <a:prstGeom prst="rect">
            <a:avLst/>
          </a:prstGeom>
        </p:spPr>
      </p:pic>
    </p:spTree>
    <p:extLst>
      <p:ext uri="{BB962C8B-B14F-4D97-AF65-F5344CB8AC3E}">
        <p14:creationId xmlns:p14="http://schemas.microsoft.com/office/powerpoint/2010/main" val="2802082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36972-F8C7-AAAA-C5FE-1EFECEF5F073}"/>
              </a:ext>
            </a:extLst>
          </p:cNvPr>
          <p:cNvSpPr>
            <a:spLocks noGrp="1"/>
          </p:cNvSpPr>
          <p:nvPr>
            <p:ph type="title"/>
          </p:nvPr>
        </p:nvSpPr>
        <p:spPr>
          <a:xfrm>
            <a:off x="750756" y="388438"/>
            <a:ext cx="10515600" cy="1352265"/>
          </a:xfrm>
        </p:spPr>
        <p:txBody>
          <a:bodyPr>
            <a:normAutofit fontScale="90000"/>
          </a:bodyPr>
          <a:lstStyle/>
          <a:p>
            <a:r>
              <a:rPr lang="en-US" sz="3600" dirty="0">
                <a:latin typeface="Times New Roman"/>
                <a:cs typeface="Times New Roman"/>
              </a:rPr>
              <a:t>DATASET</a:t>
            </a:r>
            <a:br>
              <a:rPr lang="en-US" sz="3600" dirty="0">
                <a:latin typeface="Times New Roman"/>
                <a:cs typeface="Times New Roman"/>
              </a:rPr>
            </a:br>
            <a:r>
              <a:rPr lang="en-US" sz="2200" dirty="0">
                <a:latin typeface="Times New Roman"/>
                <a:cs typeface="Times New Roman"/>
              </a:rPr>
              <a:t>The dataset consists of data from 4 Hydrogen Fuel Cell batteries built for Electric Commuter Vehicles in space exploration. The dataset is available to the public as a continuous record of the 4 batteries.</a:t>
            </a:r>
            <a:endParaRPr lang="en-US" sz="2000" i="1" dirty="0">
              <a:latin typeface="Times New Roman"/>
              <a:cs typeface="Times New Roman"/>
            </a:endParaRPr>
          </a:p>
        </p:txBody>
      </p:sp>
      <p:graphicFrame>
        <p:nvGraphicFramePr>
          <p:cNvPr id="4" name="Content Placeholder 3">
            <a:extLst>
              <a:ext uri="{FF2B5EF4-FFF2-40B4-BE49-F238E27FC236}">
                <a16:creationId xmlns:a16="http://schemas.microsoft.com/office/drawing/2014/main" id="{649DE0FC-84F8-8AB7-A46F-4D032367DA47}"/>
              </a:ext>
            </a:extLst>
          </p:cNvPr>
          <p:cNvGraphicFramePr>
            <a:graphicFrameLocks noGrp="1"/>
          </p:cNvGraphicFramePr>
          <p:nvPr>
            <p:ph idx="1"/>
            <p:extLst>
              <p:ext uri="{D42A27DB-BD31-4B8C-83A1-F6EECF244321}">
                <p14:modId xmlns:p14="http://schemas.microsoft.com/office/powerpoint/2010/main" val="2396238855"/>
              </p:ext>
            </p:extLst>
          </p:nvPr>
        </p:nvGraphicFramePr>
        <p:xfrm>
          <a:off x="679452" y="1740703"/>
          <a:ext cx="10515600" cy="1502191"/>
        </p:xfrm>
        <a:graphic>
          <a:graphicData uri="http://schemas.openxmlformats.org/drawingml/2006/table">
            <a:tbl>
              <a:tblPr firstRow="1" bandRow="1">
                <a:tableStyleId>{F5AB1C69-6EDB-4FF4-983F-18BD219EF322}</a:tableStyleId>
              </a:tblPr>
              <a:tblGrid>
                <a:gridCol w="2628900">
                  <a:extLst>
                    <a:ext uri="{9D8B030D-6E8A-4147-A177-3AD203B41FA5}">
                      <a16:colId xmlns:a16="http://schemas.microsoft.com/office/drawing/2014/main" val="1740634064"/>
                    </a:ext>
                  </a:extLst>
                </a:gridCol>
                <a:gridCol w="2628900">
                  <a:extLst>
                    <a:ext uri="{9D8B030D-6E8A-4147-A177-3AD203B41FA5}">
                      <a16:colId xmlns:a16="http://schemas.microsoft.com/office/drawing/2014/main" val="1725702927"/>
                    </a:ext>
                  </a:extLst>
                </a:gridCol>
                <a:gridCol w="2628900">
                  <a:extLst>
                    <a:ext uri="{9D8B030D-6E8A-4147-A177-3AD203B41FA5}">
                      <a16:colId xmlns:a16="http://schemas.microsoft.com/office/drawing/2014/main" val="2452105361"/>
                    </a:ext>
                  </a:extLst>
                </a:gridCol>
                <a:gridCol w="2628900">
                  <a:extLst>
                    <a:ext uri="{9D8B030D-6E8A-4147-A177-3AD203B41FA5}">
                      <a16:colId xmlns:a16="http://schemas.microsoft.com/office/drawing/2014/main" val="3373683746"/>
                    </a:ext>
                  </a:extLst>
                </a:gridCol>
              </a:tblGrid>
              <a:tr h="587791">
                <a:tc>
                  <a:txBody>
                    <a:bodyPr/>
                    <a:lstStyle/>
                    <a:p>
                      <a:pPr algn="l"/>
                      <a:r>
                        <a:rPr lang="en-US" dirty="0">
                          <a:latin typeface="Times New Roman" panose="02020603050405020304" pitchFamily="18" charset="0"/>
                          <a:cs typeface="Times New Roman" panose="02020603050405020304" pitchFamily="18" charset="0"/>
                        </a:rPr>
                        <a:t>Total Batteries</a:t>
                      </a:r>
                    </a:p>
                  </a:txBody>
                  <a:tcPr/>
                </a:tc>
                <a:tc>
                  <a:txBody>
                    <a:bodyPr/>
                    <a:lstStyle/>
                    <a:p>
                      <a:pPr algn="l"/>
                      <a:r>
                        <a:rPr lang="en-US">
                          <a:latin typeface="Times New Roman" panose="02020603050405020304" pitchFamily="18" charset="0"/>
                          <a:cs typeface="Times New Roman" panose="02020603050405020304" pitchFamily="18" charset="0"/>
                        </a:rPr>
                        <a:t>File Name</a:t>
                      </a:r>
                    </a:p>
                  </a:txBody>
                  <a:tcPr/>
                </a:tc>
                <a:tc>
                  <a:txBody>
                    <a:bodyPr/>
                    <a:lstStyle/>
                    <a:p>
                      <a:pPr algn="l"/>
                      <a:r>
                        <a:rPr lang="en-US">
                          <a:latin typeface="Times New Roman" panose="02020603050405020304" pitchFamily="18" charset="0"/>
                          <a:cs typeface="Times New Roman" panose="02020603050405020304" pitchFamily="18" charset="0"/>
                        </a:rPr>
                        <a:t>Cycle Types</a:t>
                      </a:r>
                    </a:p>
                  </a:txBody>
                  <a:tcPr/>
                </a:tc>
                <a:tc>
                  <a:txBody>
                    <a:bodyPr/>
                    <a:lstStyle/>
                    <a:p>
                      <a:pPr algn="l"/>
                      <a:r>
                        <a:rPr lang="en-US">
                          <a:latin typeface="Times New Roman" panose="02020603050405020304" pitchFamily="18" charset="0"/>
                          <a:cs typeface="Times New Roman" panose="02020603050405020304" pitchFamily="18" charset="0"/>
                        </a:rPr>
                        <a:t>Measurements per Cycle</a:t>
                      </a:r>
                    </a:p>
                  </a:txBody>
                  <a:tcPr/>
                </a:tc>
                <a:extLst>
                  <a:ext uri="{0D108BD9-81ED-4DB2-BD59-A6C34878D82A}">
                    <a16:rowId xmlns:a16="http://schemas.microsoft.com/office/drawing/2014/main" val="1013092796"/>
                  </a:ext>
                </a:extLst>
              </a:tr>
              <a:tr h="709035">
                <a:tc>
                  <a:txBody>
                    <a:bodyPr/>
                    <a:lstStyle/>
                    <a:p>
                      <a:pPr algn="l"/>
                      <a:r>
                        <a:rPr lang="en-US">
                          <a:latin typeface="Times New Roman" panose="02020603050405020304" pitchFamily="18" charset="0"/>
                          <a:cs typeface="Times New Roman" panose="02020603050405020304" pitchFamily="18" charset="0"/>
                        </a:rPr>
                        <a:t>4 (IDs: 5, 6, 7, 18)</a:t>
                      </a:r>
                    </a:p>
                  </a:txBody>
                  <a:tcPr/>
                </a:tc>
                <a:tc>
                  <a:txBody>
                    <a:bodyPr/>
                    <a:lstStyle/>
                    <a:p>
                      <a:pPr algn="l"/>
                      <a:r>
                        <a:rPr lang="en-US" dirty="0">
                          <a:latin typeface="Times New Roman" panose="02020603050405020304" pitchFamily="18" charset="0"/>
                          <a:cs typeface="Times New Roman" panose="02020603050405020304" pitchFamily="18" charset="0"/>
                        </a:rPr>
                        <a:t>nasaBattery.csv</a:t>
                      </a:r>
                    </a:p>
                  </a:txBody>
                  <a:tcPr/>
                </a:tc>
                <a:tc>
                  <a:txBody>
                    <a:bodyPr/>
                    <a:lstStyle/>
                    <a:p>
                      <a:pPr algn="l"/>
                      <a:r>
                        <a:rPr lang="en-US" dirty="0">
                          <a:latin typeface="Times New Roman" panose="02020603050405020304" pitchFamily="18" charset="0"/>
                          <a:cs typeface="Times New Roman" panose="02020603050405020304" pitchFamily="18" charset="0"/>
                        </a:rPr>
                        <a:t>Charge, Discharge, and Impedance operations</a:t>
                      </a:r>
                    </a:p>
                  </a:txBody>
                  <a:tcPr/>
                </a:tc>
                <a:tc>
                  <a:txBody>
                    <a:bodyPr/>
                    <a:lstStyle/>
                    <a:p>
                      <a:pPr algn="l"/>
                      <a:r>
                        <a:rPr lang="en-US" dirty="0">
                          <a:latin typeface="Times New Roman" panose="02020603050405020304" pitchFamily="18" charset="0"/>
                          <a:cs typeface="Times New Roman" panose="02020603050405020304" pitchFamily="18" charset="0"/>
                        </a:rPr>
                        <a:t>Voltage, Current, Temp, Capacity, Impedance, and Resistance</a:t>
                      </a:r>
                    </a:p>
                  </a:txBody>
                  <a:tcPr/>
                </a:tc>
                <a:extLst>
                  <a:ext uri="{0D108BD9-81ED-4DB2-BD59-A6C34878D82A}">
                    <a16:rowId xmlns:a16="http://schemas.microsoft.com/office/drawing/2014/main" val="1439701490"/>
                  </a:ext>
                </a:extLst>
              </a:tr>
            </a:tbl>
          </a:graphicData>
        </a:graphic>
      </p:graphicFrame>
      <p:sp>
        <p:nvSpPr>
          <p:cNvPr id="9" name="Rectangle 8">
            <a:extLst>
              <a:ext uri="{FF2B5EF4-FFF2-40B4-BE49-F238E27FC236}">
                <a16:creationId xmlns:a16="http://schemas.microsoft.com/office/drawing/2014/main" id="{29535BC4-56FA-3AB5-F999-FE60AE595B7F}"/>
              </a:ext>
            </a:extLst>
          </p:cNvPr>
          <p:cNvSpPr/>
          <p:nvPr/>
        </p:nvSpPr>
        <p:spPr>
          <a:xfrm>
            <a:off x="679452" y="3355204"/>
            <a:ext cx="10515600" cy="539851"/>
          </a:xfrm>
          <a:prstGeom prst="rect">
            <a:avLst/>
          </a:prstGeom>
          <a:solidFill>
            <a:srgbClr val="FFE31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tx1"/>
                </a:solidFill>
                <a:latin typeface="Times New Roman"/>
                <a:cs typeface="Times New Roman"/>
              </a:rPr>
              <a:t>Data Structure is a top-level structure array. A Total of 185,721 instances distributed over 4 batteries</a:t>
            </a:r>
          </a:p>
        </p:txBody>
      </p:sp>
      <p:sp>
        <p:nvSpPr>
          <p:cNvPr id="10" name="TextBox 9">
            <a:extLst>
              <a:ext uri="{FF2B5EF4-FFF2-40B4-BE49-F238E27FC236}">
                <a16:creationId xmlns:a16="http://schemas.microsoft.com/office/drawing/2014/main" id="{FB8D3C4C-B68A-6E65-E7A4-9AA7E3102C3F}"/>
              </a:ext>
            </a:extLst>
          </p:cNvPr>
          <p:cNvSpPr txBox="1"/>
          <p:nvPr/>
        </p:nvSpPr>
        <p:spPr>
          <a:xfrm>
            <a:off x="167388" y="4125597"/>
            <a:ext cx="3869130" cy="369332"/>
          </a:xfrm>
          <a:prstGeom prst="rect">
            <a:avLst/>
          </a:prstGeom>
          <a:noFill/>
        </p:spPr>
        <p:txBody>
          <a:bodyPr wrap="square" rtlCol="0">
            <a:spAutoFit/>
          </a:bodyPr>
          <a:lstStyle/>
          <a:p>
            <a:r>
              <a:rPr lang="en-US" b="1">
                <a:latin typeface="Times New Roman"/>
                <a:cs typeface="Times New Roman"/>
              </a:rPr>
              <a:t>Charging Measurements Units</a:t>
            </a:r>
          </a:p>
        </p:txBody>
      </p:sp>
      <p:graphicFrame>
        <p:nvGraphicFramePr>
          <p:cNvPr id="11" name="Table 10">
            <a:extLst>
              <a:ext uri="{FF2B5EF4-FFF2-40B4-BE49-F238E27FC236}">
                <a16:creationId xmlns:a16="http://schemas.microsoft.com/office/drawing/2014/main" id="{89474F50-C9A9-D862-BB22-B2AF1CFEDD7B}"/>
              </a:ext>
            </a:extLst>
          </p:cNvPr>
          <p:cNvGraphicFramePr>
            <a:graphicFrameLocks noGrp="1"/>
          </p:cNvGraphicFramePr>
          <p:nvPr>
            <p:extLst>
              <p:ext uri="{D42A27DB-BD31-4B8C-83A1-F6EECF244321}">
                <p14:modId xmlns:p14="http://schemas.microsoft.com/office/powerpoint/2010/main" val="1211904086"/>
              </p:ext>
            </p:extLst>
          </p:nvPr>
        </p:nvGraphicFramePr>
        <p:xfrm>
          <a:off x="167388" y="4494929"/>
          <a:ext cx="11682336" cy="1005840"/>
        </p:xfrm>
        <a:graphic>
          <a:graphicData uri="http://schemas.openxmlformats.org/drawingml/2006/table">
            <a:tbl>
              <a:tblPr firstRow="1" bandRow="1">
                <a:tableStyleId>{F5AB1C69-6EDB-4FF4-983F-18BD219EF322}</a:tableStyleId>
              </a:tblPr>
              <a:tblGrid>
                <a:gridCol w="1947056">
                  <a:extLst>
                    <a:ext uri="{9D8B030D-6E8A-4147-A177-3AD203B41FA5}">
                      <a16:colId xmlns:a16="http://schemas.microsoft.com/office/drawing/2014/main" val="2217853125"/>
                    </a:ext>
                  </a:extLst>
                </a:gridCol>
                <a:gridCol w="1947056">
                  <a:extLst>
                    <a:ext uri="{9D8B030D-6E8A-4147-A177-3AD203B41FA5}">
                      <a16:colId xmlns:a16="http://schemas.microsoft.com/office/drawing/2014/main" val="3053898302"/>
                    </a:ext>
                  </a:extLst>
                </a:gridCol>
                <a:gridCol w="1947056">
                  <a:extLst>
                    <a:ext uri="{9D8B030D-6E8A-4147-A177-3AD203B41FA5}">
                      <a16:colId xmlns:a16="http://schemas.microsoft.com/office/drawing/2014/main" val="3746684540"/>
                    </a:ext>
                  </a:extLst>
                </a:gridCol>
                <a:gridCol w="1947056">
                  <a:extLst>
                    <a:ext uri="{9D8B030D-6E8A-4147-A177-3AD203B41FA5}">
                      <a16:colId xmlns:a16="http://schemas.microsoft.com/office/drawing/2014/main" val="3950486038"/>
                    </a:ext>
                  </a:extLst>
                </a:gridCol>
                <a:gridCol w="1947056">
                  <a:extLst>
                    <a:ext uri="{9D8B030D-6E8A-4147-A177-3AD203B41FA5}">
                      <a16:colId xmlns:a16="http://schemas.microsoft.com/office/drawing/2014/main" val="3980322460"/>
                    </a:ext>
                  </a:extLst>
                </a:gridCol>
                <a:gridCol w="1947056">
                  <a:extLst>
                    <a:ext uri="{9D8B030D-6E8A-4147-A177-3AD203B41FA5}">
                      <a16:colId xmlns:a16="http://schemas.microsoft.com/office/drawing/2014/main" val="2272106148"/>
                    </a:ext>
                  </a:extLst>
                </a:gridCol>
              </a:tblGrid>
              <a:tr h="342200">
                <a:tc>
                  <a:txBody>
                    <a:bodyPr/>
                    <a:lstStyle/>
                    <a:p>
                      <a:r>
                        <a:rPr lang="en-US" dirty="0">
                          <a:latin typeface="Times New Roman" panose="02020603050405020304" pitchFamily="18" charset="0"/>
                          <a:cs typeface="Times New Roman" panose="02020603050405020304" pitchFamily="18" charset="0"/>
                        </a:rPr>
                        <a:t>Cell Voltage</a:t>
                      </a:r>
                    </a:p>
                  </a:txBody>
                  <a:tcPr/>
                </a:tc>
                <a:tc>
                  <a:txBody>
                    <a:bodyPr/>
                    <a:lstStyle/>
                    <a:p>
                      <a:r>
                        <a:rPr lang="en-US" dirty="0">
                          <a:latin typeface="Times New Roman" panose="02020603050405020304" pitchFamily="18" charset="0"/>
                          <a:cs typeface="Times New Roman" panose="02020603050405020304" pitchFamily="18" charset="0"/>
                        </a:rPr>
                        <a:t>Cell Current</a:t>
                      </a:r>
                    </a:p>
                  </a:txBody>
                  <a:tcPr/>
                </a:tc>
                <a:tc>
                  <a:txBody>
                    <a:bodyPr/>
                    <a:lstStyle/>
                    <a:p>
                      <a:r>
                        <a:rPr lang="en-US">
                          <a:latin typeface="Times New Roman" panose="02020603050405020304" pitchFamily="18" charset="0"/>
                          <a:cs typeface="Times New Roman" panose="02020603050405020304" pitchFamily="18" charset="0"/>
                        </a:rPr>
                        <a:t>Temperature</a:t>
                      </a:r>
                    </a:p>
                  </a:txBody>
                  <a:tcPr/>
                </a:tc>
                <a:tc>
                  <a:txBody>
                    <a:bodyPr/>
                    <a:lstStyle/>
                    <a:p>
                      <a:r>
                        <a:rPr lang="en-US" dirty="0">
                          <a:latin typeface="Times New Roman" panose="02020603050405020304" pitchFamily="18" charset="0"/>
                          <a:cs typeface="Times New Roman" panose="02020603050405020304" pitchFamily="18" charset="0"/>
                        </a:rPr>
                        <a:t>Load Charge</a:t>
                      </a:r>
                    </a:p>
                  </a:txBody>
                  <a:tcPr/>
                </a:tc>
                <a:tc>
                  <a:txBody>
                    <a:bodyPr/>
                    <a:lstStyle/>
                    <a:p>
                      <a:r>
                        <a:rPr lang="en-US" dirty="0">
                          <a:latin typeface="Times New Roman" panose="02020603050405020304" pitchFamily="18" charset="0"/>
                          <a:cs typeface="Times New Roman" panose="02020603050405020304" pitchFamily="18" charset="0"/>
                        </a:rPr>
                        <a:t>Load Voltage</a:t>
                      </a:r>
                    </a:p>
                  </a:txBody>
                  <a:tcPr/>
                </a:tc>
                <a:tc>
                  <a:txBody>
                    <a:bodyPr/>
                    <a:lstStyle/>
                    <a:p>
                      <a:r>
                        <a:rPr lang="en-US" dirty="0">
                          <a:latin typeface="Times New Roman" panose="02020603050405020304" pitchFamily="18" charset="0"/>
                          <a:cs typeface="Times New Roman" panose="02020603050405020304" pitchFamily="18" charset="0"/>
                        </a:rPr>
                        <a:t>Date Time</a:t>
                      </a:r>
                    </a:p>
                  </a:txBody>
                  <a:tcPr/>
                </a:tc>
                <a:extLst>
                  <a:ext uri="{0D108BD9-81ED-4DB2-BD59-A6C34878D82A}">
                    <a16:rowId xmlns:a16="http://schemas.microsoft.com/office/drawing/2014/main" val="4076420501"/>
                  </a:ext>
                </a:extLst>
              </a:tr>
              <a:tr h="370840">
                <a:tc>
                  <a:txBody>
                    <a:bodyPr/>
                    <a:lstStyle/>
                    <a:p>
                      <a:r>
                        <a:rPr lang="en-US">
                          <a:latin typeface="Times New Roman" panose="02020603050405020304" pitchFamily="18" charset="0"/>
                          <a:cs typeface="Times New Roman" panose="02020603050405020304" pitchFamily="18" charset="0"/>
                        </a:rPr>
                        <a:t>Battery Terminal (V)</a:t>
                      </a:r>
                    </a:p>
                  </a:txBody>
                  <a:tcPr/>
                </a:tc>
                <a:tc>
                  <a:txBody>
                    <a:bodyPr/>
                    <a:lstStyle/>
                    <a:p>
                      <a:r>
                        <a:rPr lang="en-US" dirty="0">
                          <a:latin typeface="Times New Roman" panose="02020603050405020304" pitchFamily="18" charset="0"/>
                          <a:cs typeface="Times New Roman" panose="02020603050405020304" pitchFamily="18" charset="0"/>
                        </a:rPr>
                        <a:t>Battery Output Current (Amps)</a:t>
                      </a:r>
                    </a:p>
                  </a:txBody>
                  <a:tcPr/>
                </a:tc>
                <a:tc>
                  <a:txBody>
                    <a:bodyPr/>
                    <a:lstStyle/>
                    <a:p>
                      <a:r>
                        <a:rPr lang="en-US">
                          <a:latin typeface="Times New Roman" panose="02020603050405020304" pitchFamily="18" charset="0"/>
                          <a:cs typeface="Times New Roman" panose="02020603050405020304" pitchFamily="18" charset="0"/>
                        </a:rPr>
                        <a:t>Battery Temperature (C)</a:t>
                      </a:r>
                    </a:p>
                  </a:txBody>
                  <a:tcPr/>
                </a:tc>
                <a:tc>
                  <a:txBody>
                    <a:bodyPr/>
                    <a:lstStyle/>
                    <a:p>
                      <a:r>
                        <a:rPr lang="en-US" dirty="0">
                          <a:latin typeface="Times New Roman" panose="02020603050405020304" pitchFamily="18" charset="0"/>
                          <a:cs typeface="Times New Roman" panose="02020603050405020304" pitchFamily="18" charset="0"/>
                        </a:rPr>
                        <a:t>Current at Load Device (Amps)</a:t>
                      </a:r>
                    </a:p>
                  </a:txBody>
                  <a:tcPr/>
                </a:tc>
                <a:tc>
                  <a:txBody>
                    <a:bodyPr/>
                    <a:lstStyle/>
                    <a:p>
                      <a:r>
                        <a:rPr lang="en-US" dirty="0">
                          <a:latin typeface="Times New Roman" panose="02020603050405020304" pitchFamily="18" charset="0"/>
                          <a:cs typeface="Times New Roman" panose="02020603050405020304" pitchFamily="18" charset="0"/>
                        </a:rPr>
                        <a:t>Voltage at Load Device (V)</a:t>
                      </a:r>
                    </a:p>
                  </a:txBody>
                  <a:tcPr/>
                </a:tc>
                <a:tc>
                  <a:txBody>
                    <a:bodyPr/>
                    <a:lstStyle/>
                    <a:p>
                      <a:r>
                        <a:rPr lang="en-US" dirty="0">
                          <a:latin typeface="Times New Roman" panose="02020603050405020304" pitchFamily="18" charset="0"/>
                          <a:cs typeface="Times New Roman" panose="02020603050405020304" pitchFamily="18" charset="0"/>
                        </a:rPr>
                        <a:t>Time Vector for cycles</a:t>
                      </a:r>
                    </a:p>
                  </a:txBody>
                  <a:tcPr/>
                </a:tc>
                <a:extLst>
                  <a:ext uri="{0D108BD9-81ED-4DB2-BD59-A6C34878D82A}">
                    <a16:rowId xmlns:a16="http://schemas.microsoft.com/office/drawing/2014/main" val="2094597375"/>
                  </a:ext>
                </a:extLst>
              </a:tr>
            </a:tbl>
          </a:graphicData>
        </a:graphic>
      </p:graphicFrame>
      <p:sp>
        <p:nvSpPr>
          <p:cNvPr id="3" name="TextBox 2">
            <a:extLst>
              <a:ext uri="{FF2B5EF4-FFF2-40B4-BE49-F238E27FC236}">
                <a16:creationId xmlns:a16="http://schemas.microsoft.com/office/drawing/2014/main" id="{AE3A7593-0CC4-884E-BE56-1DA49F38B9BB}"/>
              </a:ext>
            </a:extLst>
          </p:cNvPr>
          <p:cNvSpPr txBox="1"/>
          <p:nvPr/>
        </p:nvSpPr>
        <p:spPr>
          <a:xfrm>
            <a:off x="838200" y="5869810"/>
            <a:ext cx="10515600" cy="46166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400" dirty="0">
                <a:latin typeface="Times New Roman"/>
                <a:cs typeface="Times New Roman"/>
              </a:rPr>
              <a:t>The tested dataset was randomly sampled at 20% of the full dataset for efficiency.</a:t>
            </a:r>
          </a:p>
        </p:txBody>
      </p:sp>
    </p:spTree>
    <p:extLst>
      <p:ext uri="{BB962C8B-B14F-4D97-AF65-F5344CB8AC3E}">
        <p14:creationId xmlns:p14="http://schemas.microsoft.com/office/powerpoint/2010/main" val="3594442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Generated image">
            <a:extLst>
              <a:ext uri="{FF2B5EF4-FFF2-40B4-BE49-F238E27FC236}">
                <a16:creationId xmlns:a16="http://schemas.microsoft.com/office/drawing/2014/main" id="{D1A3CF6C-BC16-5547-681F-DC7BE4A47F60}"/>
              </a:ext>
            </a:extLst>
          </p:cNvPr>
          <p:cNvPicPr>
            <a:picLocks noChangeAspect="1"/>
          </p:cNvPicPr>
          <p:nvPr/>
        </p:nvPicPr>
        <p:blipFill>
          <a:blip r:embed="rId2"/>
          <a:stretch>
            <a:fillRect/>
          </a:stretch>
        </p:blipFill>
        <p:spPr>
          <a:xfrm>
            <a:off x="388600" y="2517064"/>
            <a:ext cx="4433773" cy="4336623"/>
          </a:xfrm>
          <a:prstGeom prst="rect">
            <a:avLst/>
          </a:prstGeom>
        </p:spPr>
      </p:pic>
      <p:pic>
        <p:nvPicPr>
          <p:cNvPr id="8" name="Picture 7">
            <a:extLst>
              <a:ext uri="{FF2B5EF4-FFF2-40B4-BE49-F238E27FC236}">
                <a16:creationId xmlns:a16="http://schemas.microsoft.com/office/drawing/2014/main" id="{B888509E-B6B7-5F3A-2A52-0BE9CD567730}"/>
              </a:ext>
            </a:extLst>
          </p:cNvPr>
          <p:cNvPicPr>
            <a:picLocks noChangeAspect="1"/>
          </p:cNvPicPr>
          <p:nvPr/>
        </p:nvPicPr>
        <p:blipFill>
          <a:blip r:embed="rId3"/>
          <a:stretch>
            <a:fillRect/>
          </a:stretch>
        </p:blipFill>
        <p:spPr>
          <a:xfrm>
            <a:off x="5763346" y="2817449"/>
            <a:ext cx="6142935" cy="3789365"/>
          </a:xfrm>
          <a:prstGeom prst="rect">
            <a:avLst/>
          </a:prstGeom>
        </p:spPr>
      </p:pic>
      <p:sp>
        <p:nvSpPr>
          <p:cNvPr id="10" name="TextBox 9">
            <a:extLst>
              <a:ext uri="{FF2B5EF4-FFF2-40B4-BE49-F238E27FC236}">
                <a16:creationId xmlns:a16="http://schemas.microsoft.com/office/drawing/2014/main" id="{6C94679A-67AB-56EC-F199-35A7263A6BE9}"/>
              </a:ext>
            </a:extLst>
          </p:cNvPr>
          <p:cNvSpPr txBox="1"/>
          <p:nvPr/>
        </p:nvSpPr>
        <p:spPr>
          <a:xfrm>
            <a:off x="3773987" y="261388"/>
            <a:ext cx="484414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latin typeface="Times New Roman" panose="02020603050405020304" pitchFamily="18" charset="0"/>
                <a:cs typeface="Times New Roman" panose="02020603050405020304" pitchFamily="18" charset="0"/>
              </a:rPr>
              <a:t>What are Anomalies?</a:t>
            </a:r>
          </a:p>
        </p:txBody>
      </p:sp>
      <p:sp>
        <p:nvSpPr>
          <p:cNvPr id="12" name="TextBox 11">
            <a:extLst>
              <a:ext uri="{FF2B5EF4-FFF2-40B4-BE49-F238E27FC236}">
                <a16:creationId xmlns:a16="http://schemas.microsoft.com/office/drawing/2014/main" id="{EF187552-B5A6-F850-E909-BD7F56F8E4DF}"/>
              </a:ext>
            </a:extLst>
          </p:cNvPr>
          <p:cNvSpPr txBox="1"/>
          <p:nvPr/>
        </p:nvSpPr>
        <p:spPr>
          <a:xfrm>
            <a:off x="1812307" y="1124617"/>
            <a:ext cx="8567057"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Anomalies are significant deviations from normal values</a:t>
            </a:r>
          </a:p>
          <a:p>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Caused by errors, rare events, or critical issues</a:t>
            </a:r>
          </a:p>
        </p:txBody>
      </p:sp>
    </p:spTree>
    <p:extLst>
      <p:ext uri="{BB962C8B-B14F-4D97-AF65-F5344CB8AC3E}">
        <p14:creationId xmlns:p14="http://schemas.microsoft.com/office/powerpoint/2010/main" val="2350686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49F12-5890-1ADA-461D-E5282003B4B4}"/>
              </a:ext>
            </a:extLst>
          </p:cNvPr>
          <p:cNvSpPr>
            <a:spLocks noGrp="1"/>
          </p:cNvSpPr>
          <p:nvPr>
            <p:ph type="title"/>
          </p:nvPr>
        </p:nvSpPr>
        <p:spPr>
          <a:xfrm>
            <a:off x="829019" y="370162"/>
            <a:ext cx="10515600" cy="1215395"/>
          </a:xfrm>
        </p:spPr>
        <p:txBody>
          <a:bodyPr>
            <a:normAutofit/>
          </a:bodyPr>
          <a:lstStyle/>
          <a:p>
            <a:r>
              <a:rPr lang="en-US" sz="3200" dirty="0">
                <a:latin typeface="Times New Roman"/>
                <a:cs typeface="Times New Roman"/>
              </a:rPr>
              <a:t>Unsupervised vs Supervised Learning in Anomaly Detection</a:t>
            </a:r>
          </a:p>
        </p:txBody>
      </p:sp>
      <p:graphicFrame>
        <p:nvGraphicFramePr>
          <p:cNvPr id="6" name="Table 5">
            <a:extLst>
              <a:ext uri="{FF2B5EF4-FFF2-40B4-BE49-F238E27FC236}">
                <a16:creationId xmlns:a16="http://schemas.microsoft.com/office/drawing/2014/main" id="{829578C8-5C6B-8982-6BC0-09CD9685A61B}"/>
              </a:ext>
            </a:extLst>
          </p:cNvPr>
          <p:cNvGraphicFramePr>
            <a:graphicFrameLocks noGrp="1"/>
          </p:cNvGraphicFramePr>
          <p:nvPr>
            <p:extLst>
              <p:ext uri="{D42A27DB-BD31-4B8C-83A1-F6EECF244321}">
                <p14:modId xmlns:p14="http://schemas.microsoft.com/office/powerpoint/2010/main" val="343200754"/>
              </p:ext>
            </p:extLst>
          </p:nvPr>
        </p:nvGraphicFramePr>
        <p:xfrm>
          <a:off x="394740" y="1873770"/>
          <a:ext cx="11407516" cy="2834640"/>
        </p:xfrm>
        <a:graphic>
          <a:graphicData uri="http://schemas.openxmlformats.org/drawingml/2006/table">
            <a:tbl>
              <a:tblPr firstRow="1" bandRow="1">
                <a:tableStyleId>{F5AB1C69-6EDB-4FF4-983F-18BD219EF322}</a:tableStyleId>
              </a:tblPr>
              <a:tblGrid>
                <a:gridCol w="5703758">
                  <a:extLst>
                    <a:ext uri="{9D8B030D-6E8A-4147-A177-3AD203B41FA5}">
                      <a16:colId xmlns:a16="http://schemas.microsoft.com/office/drawing/2014/main" val="1679759637"/>
                    </a:ext>
                  </a:extLst>
                </a:gridCol>
                <a:gridCol w="5703758">
                  <a:extLst>
                    <a:ext uri="{9D8B030D-6E8A-4147-A177-3AD203B41FA5}">
                      <a16:colId xmlns:a16="http://schemas.microsoft.com/office/drawing/2014/main" val="1600632247"/>
                    </a:ext>
                  </a:extLst>
                </a:gridCol>
              </a:tblGrid>
              <a:tr h="1874159">
                <a:tc>
                  <a:txBody>
                    <a:bodyPr/>
                    <a:lstStyle/>
                    <a:p>
                      <a:pPr marL="285750" marR="0" lvl="0" indent="-285750" algn="l" rtl="0" eaLnBrk="1" fontAlgn="auto" latinLnBrk="0" hangingPunct="1">
                        <a:lnSpc>
                          <a:spcPct val="100000"/>
                        </a:lnSpc>
                        <a:spcBef>
                          <a:spcPts val="0"/>
                        </a:spcBef>
                        <a:spcAft>
                          <a:spcPts val="0"/>
                        </a:spcAft>
                        <a:buClrTx/>
                        <a:buSzTx/>
                        <a:buFont typeface="Arial"/>
                        <a:buChar char="•"/>
                      </a:pPr>
                      <a:r>
                        <a:rPr lang="en-US" sz="2000" b="0" dirty="0">
                          <a:latin typeface="Times New Roman"/>
                        </a:rPr>
                        <a:t>Used to detect unknown or subtle anomalies in without labeled data.</a:t>
                      </a:r>
                    </a:p>
                    <a:p>
                      <a:pPr marL="285750" marR="0" lvl="0" indent="-285750" algn="l">
                        <a:lnSpc>
                          <a:spcPct val="100000"/>
                        </a:lnSpc>
                        <a:spcBef>
                          <a:spcPts val="0"/>
                        </a:spcBef>
                        <a:spcAft>
                          <a:spcPts val="0"/>
                        </a:spcAft>
                        <a:buClrTx/>
                        <a:buSzTx/>
                        <a:buFont typeface="Arial"/>
                        <a:buChar char="•"/>
                      </a:pPr>
                      <a:r>
                        <a:rPr lang="en-US" sz="2000" b="0" dirty="0">
                          <a:latin typeface="Times New Roman"/>
                        </a:rPr>
                        <a:t>Helpful for evaluating large, complex datasets. </a:t>
                      </a:r>
                    </a:p>
                    <a:p>
                      <a:pPr marL="0" marR="0" lvl="0" indent="0" algn="l">
                        <a:lnSpc>
                          <a:spcPct val="100000"/>
                        </a:lnSpc>
                        <a:spcBef>
                          <a:spcPts val="0"/>
                        </a:spcBef>
                        <a:spcAft>
                          <a:spcPts val="0"/>
                        </a:spcAft>
                        <a:buClrTx/>
                        <a:buSzTx/>
                        <a:buNone/>
                      </a:pPr>
                      <a:endParaRPr lang="en-US" sz="2000" b="0" dirty="0">
                        <a:latin typeface="Times New Roman"/>
                      </a:endParaRPr>
                    </a:p>
                    <a:p>
                      <a:pPr marL="0" marR="0" lvl="0" indent="0" algn="l" rtl="0" eaLnBrk="1" fontAlgn="auto" latinLnBrk="0" hangingPunct="1">
                        <a:lnSpc>
                          <a:spcPct val="100000"/>
                        </a:lnSpc>
                        <a:spcBef>
                          <a:spcPts val="0"/>
                        </a:spcBef>
                        <a:spcAft>
                          <a:spcPts val="0"/>
                        </a:spcAft>
                        <a:buClrTx/>
                        <a:buSzTx/>
                        <a:buNone/>
                      </a:pPr>
                      <a:r>
                        <a:rPr lang="en-US" sz="2000" b="0" dirty="0">
                          <a:latin typeface="Times New Roman"/>
                        </a:rPr>
                        <a:t>         Models: Isolation Forest, LOF,                 </a:t>
                      </a:r>
                    </a:p>
                    <a:p>
                      <a:pPr marL="0" marR="0" lvl="0" indent="0" algn="l">
                        <a:lnSpc>
                          <a:spcPct val="100000"/>
                        </a:lnSpc>
                        <a:spcBef>
                          <a:spcPts val="0"/>
                        </a:spcBef>
                        <a:spcAft>
                          <a:spcPts val="0"/>
                        </a:spcAft>
                        <a:buClrTx/>
                        <a:buSzTx/>
                        <a:buNone/>
                      </a:pPr>
                      <a:r>
                        <a:rPr lang="en-US" sz="2000" b="0" dirty="0">
                          <a:latin typeface="Times New Roman"/>
                        </a:rPr>
                        <a:t>                         One-Class SVM</a:t>
                      </a:r>
                      <a:endParaRPr lang="en-US" b="0" dirty="0"/>
                    </a:p>
                    <a:p>
                      <a:endParaRPr lang="en-US" sz="2000" b="0" dirty="0">
                        <a:solidFill>
                          <a:schemeClr val="bg1"/>
                        </a:solidFill>
                        <a:latin typeface="+mj-lt"/>
                      </a:endParaRPr>
                    </a:p>
                  </a:txBody>
                  <a:tcPr>
                    <a:lnR w="12700">
                      <a:solidFill>
                        <a:schemeClr val="tx1"/>
                      </a:solidFill>
                    </a:lnR>
                    <a:cell3D prstMaterial="dkEdge">
                      <a:bevel prst="slope"/>
                      <a:lightRig rig="flood" dir="t"/>
                    </a:cell3D>
                  </a:tcPr>
                </a:tc>
                <a:tc>
                  <a:txBody>
                    <a:bodyPr/>
                    <a:lstStyle/>
                    <a:p>
                      <a:pPr marL="285750" lvl="0" indent="-285750">
                        <a:buFont typeface="Arial" panose="020B0604020202020204" pitchFamily="34" charset="0"/>
                        <a:buChar char="•"/>
                      </a:pPr>
                      <a:r>
                        <a:rPr lang="en-US" sz="2000" b="0" dirty="0">
                          <a:solidFill>
                            <a:schemeClr val="tx1"/>
                          </a:solidFill>
                          <a:latin typeface="Times New Roman"/>
                        </a:rPr>
                        <a:t>After detecting anomalies, we compared the model overlaps to find high-confidence labels</a:t>
                      </a:r>
                    </a:p>
                    <a:p>
                      <a:pPr marL="285750" lvl="0" indent="-285750">
                        <a:buFont typeface="Arial" panose="020B0604020202020204" pitchFamily="34" charset="0"/>
                        <a:buChar char="•"/>
                      </a:pPr>
                      <a:r>
                        <a:rPr lang="en-US" sz="2000" b="0" dirty="0">
                          <a:solidFill>
                            <a:schemeClr val="tx1"/>
                          </a:solidFill>
                          <a:latin typeface="Times New Roman"/>
                        </a:rPr>
                        <a:t>These labels are used to train a supervised model for higher accuracy and real time monitoring. </a:t>
                      </a:r>
                    </a:p>
                    <a:p>
                      <a:pPr marL="0" lvl="0" indent="0">
                        <a:buFont typeface="Arial" panose="020B0604020202020204" pitchFamily="34" charset="0"/>
                        <a:buNone/>
                      </a:pPr>
                      <a:r>
                        <a:rPr lang="en-US" sz="2000" b="0" dirty="0">
                          <a:solidFill>
                            <a:schemeClr val="tx1"/>
                          </a:solidFill>
                          <a:latin typeface="Times New Roman"/>
                        </a:rPr>
                        <a:t> </a:t>
                      </a:r>
                    </a:p>
                    <a:p>
                      <a:pPr marL="0" lvl="0" indent="0" algn="ctr">
                        <a:buFont typeface="Arial" panose="020B0604020202020204" pitchFamily="34" charset="0"/>
                        <a:buNone/>
                      </a:pPr>
                      <a:r>
                        <a:rPr lang="en-US" sz="2000" b="0" dirty="0">
                          <a:solidFill>
                            <a:schemeClr val="tx1"/>
                          </a:solidFill>
                          <a:latin typeface="Times New Roman"/>
                        </a:rPr>
                        <a:t>        Models: Logistic Regression, SVM, Decision          Tree, Random Forest, KNN</a:t>
                      </a:r>
                    </a:p>
                    <a:p>
                      <a:pPr marL="0" lvl="0" indent="0">
                        <a:buFont typeface="Arial" panose="020B0604020202020204" pitchFamily="34" charset="0"/>
                        <a:buNone/>
                      </a:pPr>
                      <a:endParaRPr lang="en-US" sz="2000" b="0" dirty="0">
                        <a:solidFill>
                          <a:schemeClr val="tx1"/>
                        </a:solidFill>
                        <a:latin typeface="Times New Roman"/>
                      </a:endParaRPr>
                    </a:p>
                    <a:p>
                      <a:pPr marL="0" indent="0">
                        <a:buFont typeface="Arial" panose="020B0604020202020204" pitchFamily="34" charset="0"/>
                        <a:buNone/>
                      </a:pPr>
                      <a:endParaRPr lang="en-US" sz="2000" b="0" dirty="0">
                        <a:solidFill>
                          <a:schemeClr val="tx1"/>
                        </a:solidFill>
                        <a:latin typeface="Times New Roman"/>
                      </a:endParaRPr>
                    </a:p>
                  </a:txBody>
                  <a:tcPr>
                    <a:lnL w="12700">
                      <a:solidFill>
                        <a:schemeClr val="tx1"/>
                      </a:solidFill>
                    </a:lnL>
                    <a:cell3D prstMaterial="dkEdge">
                      <a:bevel prst="slope"/>
                      <a:lightRig rig="flood" dir="t"/>
                    </a:cell3D>
                    <a:solidFill>
                      <a:srgbClr val="FFE319"/>
                    </a:solidFill>
                  </a:tcPr>
                </a:tc>
                <a:extLst>
                  <a:ext uri="{0D108BD9-81ED-4DB2-BD59-A6C34878D82A}">
                    <a16:rowId xmlns:a16="http://schemas.microsoft.com/office/drawing/2014/main" val="1590270037"/>
                  </a:ext>
                </a:extLst>
              </a:tr>
            </a:tbl>
          </a:graphicData>
        </a:graphic>
      </p:graphicFrame>
      <p:graphicFrame>
        <p:nvGraphicFramePr>
          <p:cNvPr id="8" name="Table 7">
            <a:extLst>
              <a:ext uri="{FF2B5EF4-FFF2-40B4-BE49-F238E27FC236}">
                <a16:creationId xmlns:a16="http://schemas.microsoft.com/office/drawing/2014/main" id="{7FE5375F-22A0-22B3-3058-3DABEE69E805}"/>
              </a:ext>
            </a:extLst>
          </p:cNvPr>
          <p:cNvGraphicFramePr>
            <a:graphicFrameLocks noGrp="1"/>
          </p:cNvGraphicFramePr>
          <p:nvPr>
            <p:extLst>
              <p:ext uri="{D42A27DB-BD31-4B8C-83A1-F6EECF244321}">
                <p14:modId xmlns:p14="http://schemas.microsoft.com/office/powerpoint/2010/main" val="784398645"/>
              </p:ext>
            </p:extLst>
          </p:nvPr>
        </p:nvGraphicFramePr>
        <p:xfrm>
          <a:off x="392242" y="1402667"/>
          <a:ext cx="11407516" cy="396240"/>
        </p:xfrm>
        <a:graphic>
          <a:graphicData uri="http://schemas.openxmlformats.org/drawingml/2006/table">
            <a:tbl>
              <a:tblPr firstRow="1" bandRow="1">
                <a:tableStyleId>{5C22544A-7EE6-4342-B048-85BDC9FD1C3A}</a:tableStyleId>
              </a:tblPr>
              <a:tblGrid>
                <a:gridCol w="5703758">
                  <a:extLst>
                    <a:ext uri="{9D8B030D-6E8A-4147-A177-3AD203B41FA5}">
                      <a16:colId xmlns:a16="http://schemas.microsoft.com/office/drawing/2014/main" val="932969983"/>
                    </a:ext>
                  </a:extLst>
                </a:gridCol>
                <a:gridCol w="5703758">
                  <a:extLst>
                    <a:ext uri="{9D8B030D-6E8A-4147-A177-3AD203B41FA5}">
                      <a16:colId xmlns:a16="http://schemas.microsoft.com/office/drawing/2014/main" val="2252948380"/>
                    </a:ext>
                  </a:extLst>
                </a:gridCol>
              </a:tblGrid>
              <a:tr h="370840">
                <a:tc>
                  <a:txBody>
                    <a:bodyPr/>
                    <a:lstStyle/>
                    <a:p>
                      <a:pPr algn="ctr"/>
                      <a:r>
                        <a:rPr lang="en-US" sz="2000">
                          <a:solidFill>
                            <a:schemeClr val="bg1"/>
                          </a:solidFill>
                          <a:latin typeface="Times New Roman"/>
                        </a:rPr>
                        <a:t>Unsupervised</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cell3D prstMaterial="dkEdge">
                      <a:bevel prst="slope"/>
                      <a:lightRig rig="flood" dir="t"/>
                    </a:cell3D>
                    <a:solidFill>
                      <a:srgbClr val="196B24"/>
                    </a:solidFill>
                  </a:tcPr>
                </a:tc>
                <a:tc>
                  <a:txBody>
                    <a:bodyPr/>
                    <a:lstStyle/>
                    <a:p>
                      <a:pPr algn="ctr"/>
                      <a:r>
                        <a:rPr lang="en-US" sz="2000">
                          <a:solidFill>
                            <a:schemeClr val="tx1"/>
                          </a:solidFill>
                          <a:latin typeface="Times New Roman"/>
                        </a:rPr>
                        <a:t>Supervised</a:t>
                      </a:r>
                    </a:p>
                  </a:txBody>
                  <a:tcPr>
                    <a:lnL w="12700" cmpd="sng">
                      <a:noFill/>
                    </a:lnL>
                    <a:cell3D prstMaterial="dkEdge">
                      <a:bevel prst="slope"/>
                      <a:lightRig rig="flood" dir="t"/>
                    </a:cell3D>
                    <a:solidFill>
                      <a:srgbClr val="FFE319"/>
                    </a:solidFill>
                  </a:tcPr>
                </a:tc>
                <a:extLst>
                  <a:ext uri="{0D108BD9-81ED-4DB2-BD59-A6C34878D82A}">
                    <a16:rowId xmlns:a16="http://schemas.microsoft.com/office/drawing/2014/main" val="4177752532"/>
                  </a:ext>
                </a:extLst>
              </a:tr>
            </a:tbl>
          </a:graphicData>
        </a:graphic>
      </p:graphicFrame>
      <p:sp>
        <p:nvSpPr>
          <p:cNvPr id="4" name="TextBox 3">
            <a:extLst>
              <a:ext uri="{FF2B5EF4-FFF2-40B4-BE49-F238E27FC236}">
                <a16:creationId xmlns:a16="http://schemas.microsoft.com/office/drawing/2014/main" id="{E65F1696-6D65-BDBD-4B9B-8FBE236CC89A}"/>
              </a:ext>
            </a:extLst>
          </p:cNvPr>
          <p:cNvSpPr txBox="1"/>
          <p:nvPr/>
        </p:nvSpPr>
        <p:spPr>
          <a:xfrm>
            <a:off x="392241" y="4993668"/>
            <a:ext cx="11407515" cy="1384995"/>
          </a:xfrm>
          <a:prstGeom prst="rect">
            <a:avLst/>
          </a:prstGeom>
          <a:noFill/>
        </p:spPr>
        <p:txBody>
          <a:bodyPr wrap="square">
            <a:spAutoFit/>
          </a:bodyPr>
          <a:lstStyle/>
          <a:p>
            <a:pPr algn="ctr"/>
            <a:r>
              <a:rPr lang="en-US" sz="2800" b="1" dirty="0">
                <a:latin typeface="Times New Roman"/>
                <a:cs typeface="Times New Roman"/>
              </a:rPr>
              <a:t>Using different model types detects different kinds of anomalies and comparing results can identify consistent flagged anomalies across models.</a:t>
            </a:r>
          </a:p>
        </p:txBody>
      </p:sp>
    </p:spTree>
    <p:extLst>
      <p:ext uri="{BB962C8B-B14F-4D97-AF65-F5344CB8AC3E}">
        <p14:creationId xmlns:p14="http://schemas.microsoft.com/office/powerpoint/2010/main" val="1519426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F514A-1480-5257-40EE-586F68D33296}"/>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386B96A-EBF9-B6F8-93E2-EE4235193561}"/>
              </a:ext>
            </a:extLst>
          </p:cNvPr>
          <p:cNvSpPr>
            <a:spLocks noGrp="1"/>
          </p:cNvSpPr>
          <p:nvPr>
            <p:ph idx="1"/>
          </p:nvPr>
        </p:nvSpPr>
        <p:spPr>
          <a:xfrm>
            <a:off x="5533304" y="309894"/>
            <a:ext cx="6661820" cy="1760213"/>
          </a:xfrm>
        </p:spPr>
        <p:txBody>
          <a:bodyPr vert="horz" lIns="91440" tIns="45720" rIns="91440" bIns="45720" rtlCol="0" anchor="t">
            <a:normAutofit/>
          </a:bodyPr>
          <a:lstStyle/>
          <a:p>
            <a:pPr marL="0" indent="0">
              <a:buNone/>
            </a:pPr>
            <a:r>
              <a:rPr lang="en-US" b="1">
                <a:latin typeface="Times New Roman"/>
                <a:cs typeface="Times New Roman"/>
              </a:rPr>
              <a:t>Output 1:</a:t>
            </a:r>
            <a:r>
              <a:rPr lang="en-US">
                <a:latin typeface="Times New Roman"/>
                <a:cs typeface="Times New Roman"/>
              </a:rPr>
              <a:t> This shows the percent of the total data that was detected to be anomalies by the F1 scored-based anomaly detection and each of the three models individually.</a:t>
            </a:r>
          </a:p>
        </p:txBody>
      </p:sp>
      <p:pic>
        <p:nvPicPr>
          <p:cNvPr id="2" name="Picture 1" descr="A screenshot of a computer program&#10;&#10;AI-generated content may be incorrect., Picture">
            <a:extLst>
              <a:ext uri="{FF2B5EF4-FFF2-40B4-BE49-F238E27FC236}">
                <a16:creationId xmlns:a16="http://schemas.microsoft.com/office/drawing/2014/main" id="{344F116A-F78D-897C-D247-40912A1C24D3}"/>
              </a:ext>
            </a:extLst>
          </p:cNvPr>
          <p:cNvPicPr>
            <a:picLocks noChangeAspect="1"/>
          </p:cNvPicPr>
          <p:nvPr/>
        </p:nvPicPr>
        <p:blipFill>
          <a:blip r:embed="rId2"/>
          <a:stretch>
            <a:fillRect/>
          </a:stretch>
        </p:blipFill>
        <p:spPr>
          <a:xfrm>
            <a:off x="163614" y="148873"/>
            <a:ext cx="5353948" cy="2217526"/>
          </a:xfrm>
          <a:prstGeom prst="rect">
            <a:avLst/>
          </a:prstGeom>
        </p:spPr>
      </p:pic>
      <p:pic>
        <p:nvPicPr>
          <p:cNvPr id="3" name="Picture 2" descr="A screenshot of a computer&#10;&#10;AI-generated content may be incorrect., Picture">
            <a:extLst>
              <a:ext uri="{FF2B5EF4-FFF2-40B4-BE49-F238E27FC236}">
                <a16:creationId xmlns:a16="http://schemas.microsoft.com/office/drawing/2014/main" id="{DC6C00DC-B779-2D8F-2087-04EB92B772C5}"/>
              </a:ext>
            </a:extLst>
          </p:cNvPr>
          <p:cNvPicPr>
            <a:picLocks noChangeAspect="1"/>
          </p:cNvPicPr>
          <p:nvPr/>
        </p:nvPicPr>
        <p:blipFill>
          <a:blip r:embed="rId3"/>
          <a:stretch>
            <a:fillRect/>
          </a:stretch>
        </p:blipFill>
        <p:spPr>
          <a:xfrm>
            <a:off x="165931" y="2588186"/>
            <a:ext cx="5353588" cy="1282280"/>
          </a:xfrm>
          <a:prstGeom prst="rect">
            <a:avLst/>
          </a:prstGeom>
        </p:spPr>
      </p:pic>
      <p:sp>
        <p:nvSpPr>
          <p:cNvPr id="8" name="Content Placeholder 3">
            <a:extLst>
              <a:ext uri="{FF2B5EF4-FFF2-40B4-BE49-F238E27FC236}">
                <a16:creationId xmlns:a16="http://schemas.microsoft.com/office/drawing/2014/main" id="{310A3A01-8043-EF56-DA56-8FD4B4F18FC5}"/>
              </a:ext>
            </a:extLst>
          </p:cNvPr>
          <p:cNvSpPr txBox="1">
            <a:spLocks/>
          </p:cNvSpPr>
          <p:nvPr/>
        </p:nvSpPr>
        <p:spPr>
          <a:xfrm>
            <a:off x="5530655" y="2353465"/>
            <a:ext cx="6661821" cy="16949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latin typeface="Times New Roman"/>
                <a:cs typeface="Times New Roman"/>
              </a:rPr>
              <a:t>Output 2:</a:t>
            </a:r>
            <a:r>
              <a:rPr lang="en-US" sz="2000" dirty="0">
                <a:latin typeface="Times New Roman"/>
                <a:cs typeface="Times New Roman"/>
              </a:rPr>
              <a:t> This shows the F1 score of each of the three models: </a:t>
            </a:r>
          </a:p>
          <a:p>
            <a:pPr marL="0" indent="0">
              <a:buNone/>
            </a:pPr>
            <a:r>
              <a:rPr lang="en-US" sz="2000" dirty="0">
                <a:latin typeface="Times New Roman"/>
                <a:cs typeface="Times New Roman"/>
              </a:rPr>
              <a:t>- Isolation Forest becomes weighted at 0.3885 (38.85%).</a:t>
            </a:r>
          </a:p>
          <a:p>
            <a:pPr marL="0" indent="0">
              <a:buNone/>
            </a:pPr>
            <a:r>
              <a:rPr lang="en-US" sz="2000" dirty="0">
                <a:latin typeface="Times New Roman"/>
                <a:cs typeface="Times New Roman"/>
              </a:rPr>
              <a:t>- Local Outlier Factor becomes weighted at 0.1953 (19.53%). </a:t>
            </a:r>
          </a:p>
          <a:p>
            <a:pPr marL="0" indent="0">
              <a:buNone/>
            </a:pPr>
            <a:r>
              <a:rPr lang="en-US" sz="2000" dirty="0">
                <a:latin typeface="Times New Roman"/>
                <a:cs typeface="Times New Roman"/>
              </a:rPr>
              <a:t>- One-Class SVM becomes weighted at 0.4162 (41.62%).</a:t>
            </a:r>
          </a:p>
        </p:txBody>
      </p:sp>
      <p:pic>
        <p:nvPicPr>
          <p:cNvPr id="10" name="Picture 9" descr="A screen shot of a computer&#10;&#10;AI-generated content may be incorrect., Picture">
            <a:extLst>
              <a:ext uri="{FF2B5EF4-FFF2-40B4-BE49-F238E27FC236}">
                <a16:creationId xmlns:a16="http://schemas.microsoft.com/office/drawing/2014/main" id="{F8BB10E6-CC67-B8F3-24CF-CEA866EF4BC7}"/>
              </a:ext>
            </a:extLst>
          </p:cNvPr>
          <p:cNvPicPr>
            <a:picLocks noChangeAspect="1"/>
          </p:cNvPicPr>
          <p:nvPr/>
        </p:nvPicPr>
        <p:blipFill>
          <a:blip r:embed="rId4"/>
          <a:stretch>
            <a:fillRect/>
          </a:stretch>
        </p:blipFill>
        <p:spPr>
          <a:xfrm>
            <a:off x="170420" y="4049081"/>
            <a:ext cx="8036747" cy="2653688"/>
          </a:xfrm>
          <a:prstGeom prst="rect">
            <a:avLst/>
          </a:prstGeom>
        </p:spPr>
      </p:pic>
      <p:sp>
        <p:nvSpPr>
          <p:cNvPr id="13" name="Content Placeholder 3">
            <a:extLst>
              <a:ext uri="{FF2B5EF4-FFF2-40B4-BE49-F238E27FC236}">
                <a16:creationId xmlns:a16="http://schemas.microsoft.com/office/drawing/2014/main" id="{0DEED7AE-A040-127D-F9BE-480769B79407}"/>
              </a:ext>
            </a:extLst>
          </p:cNvPr>
          <p:cNvSpPr txBox="1">
            <a:spLocks/>
          </p:cNvSpPr>
          <p:nvPr/>
        </p:nvSpPr>
        <p:spPr>
          <a:xfrm>
            <a:off x="8205515" y="4208745"/>
            <a:ext cx="3989155" cy="2499634"/>
          </a:xfrm>
          <a:prstGeom prst="rect">
            <a:avLst/>
          </a:prstGeom>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Times New Roman"/>
                <a:cs typeface="Times New Roman"/>
              </a:rPr>
              <a:t>Output 3:</a:t>
            </a:r>
            <a:r>
              <a:rPr lang="en-US" dirty="0">
                <a:latin typeface="Times New Roman"/>
                <a:cs typeface="Times New Roman"/>
              </a:rPr>
              <a:t> This shows the overlap indices and percentage of overlap for all three models; these anomalies would be automatically included in the F1 score-based anomalies (anomaly score equal to one).  </a:t>
            </a:r>
          </a:p>
        </p:txBody>
      </p:sp>
    </p:spTree>
    <p:extLst>
      <p:ext uri="{BB962C8B-B14F-4D97-AF65-F5344CB8AC3E}">
        <p14:creationId xmlns:p14="http://schemas.microsoft.com/office/powerpoint/2010/main" val="2472526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E2930-2B11-77D7-5096-9C7A13EE2073}"/>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5C28556-F306-A0F5-97F1-710BD8367CFC}"/>
              </a:ext>
            </a:extLst>
          </p:cNvPr>
          <p:cNvSpPr>
            <a:spLocks noGrp="1"/>
          </p:cNvSpPr>
          <p:nvPr>
            <p:ph idx="1"/>
          </p:nvPr>
        </p:nvSpPr>
        <p:spPr>
          <a:xfrm>
            <a:off x="6387078" y="949099"/>
            <a:ext cx="5805890" cy="1533673"/>
          </a:xfrm>
        </p:spPr>
        <p:txBody>
          <a:bodyPr vert="horz" lIns="91440" tIns="45720" rIns="91440" bIns="45720" rtlCol="0" anchor="t">
            <a:normAutofit lnSpcReduction="10000"/>
          </a:bodyPr>
          <a:lstStyle/>
          <a:p>
            <a:pPr marL="0" indent="0">
              <a:buNone/>
            </a:pPr>
            <a:r>
              <a:rPr lang="en-US" b="1" dirty="0">
                <a:latin typeface="Times New Roman"/>
                <a:cs typeface="Times New Roman"/>
              </a:rPr>
              <a:t>Figure 1A:</a:t>
            </a:r>
            <a:r>
              <a:rPr lang="en-US" dirty="0">
                <a:latin typeface="Times New Roman"/>
                <a:cs typeface="Times New Roman"/>
              </a:rPr>
              <a:t> This shows how all 4 cell capacities decay over the number of cycles with anomalies detected based on F1-score weighted anomalies.</a:t>
            </a:r>
          </a:p>
        </p:txBody>
      </p:sp>
      <p:pic>
        <p:nvPicPr>
          <p:cNvPr id="2" name="Picture 1" descr="A graph showing the amount of battery capacity&#10;&#10;AI-generated content may be incorrect., Picture">
            <a:extLst>
              <a:ext uri="{FF2B5EF4-FFF2-40B4-BE49-F238E27FC236}">
                <a16:creationId xmlns:a16="http://schemas.microsoft.com/office/drawing/2014/main" id="{524AE07A-29D0-2E72-703E-697165AC5427}"/>
              </a:ext>
            </a:extLst>
          </p:cNvPr>
          <p:cNvPicPr>
            <a:picLocks noChangeAspect="1"/>
          </p:cNvPicPr>
          <p:nvPr/>
        </p:nvPicPr>
        <p:blipFill>
          <a:blip r:embed="rId2"/>
          <a:stretch>
            <a:fillRect/>
          </a:stretch>
        </p:blipFill>
        <p:spPr>
          <a:xfrm>
            <a:off x="2512" y="-2343"/>
            <a:ext cx="6400321" cy="3436107"/>
          </a:xfrm>
          <a:prstGeom prst="rect">
            <a:avLst/>
          </a:prstGeom>
        </p:spPr>
      </p:pic>
      <p:pic>
        <p:nvPicPr>
          <p:cNvPr id="3" name="Picture 2" descr="A graph showing different colored lines&#10;&#10;AI-generated content may be incorrect., Picture">
            <a:extLst>
              <a:ext uri="{FF2B5EF4-FFF2-40B4-BE49-F238E27FC236}">
                <a16:creationId xmlns:a16="http://schemas.microsoft.com/office/drawing/2014/main" id="{562FD3BD-C7F5-D5DB-7BB9-F681601E81D1}"/>
              </a:ext>
            </a:extLst>
          </p:cNvPr>
          <p:cNvPicPr>
            <a:picLocks noChangeAspect="1"/>
          </p:cNvPicPr>
          <p:nvPr/>
        </p:nvPicPr>
        <p:blipFill>
          <a:blip r:embed="rId3"/>
          <a:stretch>
            <a:fillRect/>
          </a:stretch>
        </p:blipFill>
        <p:spPr>
          <a:xfrm>
            <a:off x="-907" y="3430058"/>
            <a:ext cx="6403825" cy="3429303"/>
          </a:xfrm>
          <a:prstGeom prst="rect">
            <a:avLst/>
          </a:prstGeom>
        </p:spPr>
      </p:pic>
      <p:sp>
        <p:nvSpPr>
          <p:cNvPr id="6" name="Content Placeholder 3">
            <a:extLst>
              <a:ext uri="{FF2B5EF4-FFF2-40B4-BE49-F238E27FC236}">
                <a16:creationId xmlns:a16="http://schemas.microsoft.com/office/drawing/2014/main" id="{56759A15-6E17-3628-D304-9A10017472BD}"/>
              </a:ext>
            </a:extLst>
          </p:cNvPr>
          <p:cNvSpPr txBox="1">
            <a:spLocks/>
          </p:cNvSpPr>
          <p:nvPr/>
        </p:nvSpPr>
        <p:spPr>
          <a:xfrm>
            <a:off x="6388865" y="4373771"/>
            <a:ext cx="5805890" cy="1533673"/>
          </a:xfrm>
          <a:prstGeom prst="rect">
            <a:avLst/>
          </a:prstGeom>
          <a:ln>
            <a:no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Times New Roman"/>
                <a:cs typeface="Times New Roman"/>
              </a:rPr>
              <a:t>Figure 1B:</a:t>
            </a:r>
            <a:r>
              <a:rPr lang="en-US" dirty="0">
                <a:latin typeface="Times New Roman"/>
                <a:cs typeface="Times New Roman"/>
              </a:rPr>
              <a:t> This shows the capacity degradation plot with anomalies detected by each model.</a:t>
            </a:r>
          </a:p>
        </p:txBody>
      </p:sp>
      <p:cxnSp>
        <p:nvCxnSpPr>
          <p:cNvPr id="5" name="Straight Arrow Connector 4">
            <a:extLst>
              <a:ext uri="{FF2B5EF4-FFF2-40B4-BE49-F238E27FC236}">
                <a16:creationId xmlns:a16="http://schemas.microsoft.com/office/drawing/2014/main" id="{DD848447-6A3B-0B28-6870-09FD34A87B95}"/>
              </a:ext>
            </a:extLst>
          </p:cNvPr>
          <p:cNvCxnSpPr/>
          <p:nvPr/>
        </p:nvCxnSpPr>
        <p:spPr>
          <a:xfrm flipV="1">
            <a:off x="3907" y="3353850"/>
            <a:ext cx="12177385" cy="45928"/>
          </a:xfrm>
          <a:prstGeom prst="straightConnector1">
            <a:avLst/>
          </a:prstGeom>
          <a:ln w="28575">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9208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D03E3-F4AB-F4AF-072B-E5E185A0939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DB5E4DA-F512-A57E-8C1D-BF6FD70FF6A2}"/>
              </a:ext>
            </a:extLst>
          </p:cNvPr>
          <p:cNvSpPr>
            <a:spLocks noGrp="1"/>
          </p:cNvSpPr>
          <p:nvPr>
            <p:ph idx="1"/>
          </p:nvPr>
        </p:nvSpPr>
        <p:spPr>
          <a:xfrm>
            <a:off x="6387078" y="949099"/>
            <a:ext cx="5805890" cy="1533673"/>
          </a:xfrm>
        </p:spPr>
        <p:txBody>
          <a:bodyPr vert="horz" lIns="91440" tIns="45720" rIns="91440" bIns="45720" rtlCol="0" anchor="t">
            <a:normAutofit fontScale="92500"/>
          </a:bodyPr>
          <a:lstStyle/>
          <a:p>
            <a:pPr marL="0" indent="0">
              <a:buNone/>
            </a:pPr>
            <a:r>
              <a:rPr lang="en-US" b="1" dirty="0">
                <a:latin typeface="Times New Roman"/>
                <a:cs typeface="Times New Roman"/>
              </a:rPr>
              <a:t>Figure 2A:</a:t>
            </a:r>
            <a:r>
              <a:rPr lang="en-US" dirty="0">
                <a:latin typeface="Times New Roman"/>
                <a:cs typeface="Times New Roman"/>
              </a:rPr>
              <a:t> This shows the power difference of all 4 cells over the number of cycles with anomalies detected based on F1-score weighted anomalies.</a:t>
            </a:r>
          </a:p>
        </p:txBody>
      </p:sp>
      <p:sp>
        <p:nvSpPr>
          <p:cNvPr id="6" name="Content Placeholder 3">
            <a:extLst>
              <a:ext uri="{FF2B5EF4-FFF2-40B4-BE49-F238E27FC236}">
                <a16:creationId xmlns:a16="http://schemas.microsoft.com/office/drawing/2014/main" id="{B23E19F8-9F76-B5AC-3A40-5C7235791477}"/>
              </a:ext>
            </a:extLst>
          </p:cNvPr>
          <p:cNvSpPr txBox="1">
            <a:spLocks/>
          </p:cNvSpPr>
          <p:nvPr/>
        </p:nvSpPr>
        <p:spPr>
          <a:xfrm>
            <a:off x="6388865" y="4275799"/>
            <a:ext cx="5805890" cy="1533673"/>
          </a:xfrm>
          <a:prstGeom prst="rect">
            <a:avLst/>
          </a:prstGeom>
          <a:ln>
            <a:no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Times New Roman"/>
                <a:cs typeface="Times New Roman"/>
              </a:rPr>
              <a:t>Figure 2B:</a:t>
            </a:r>
            <a:r>
              <a:rPr lang="en-US" dirty="0">
                <a:latin typeface="Times New Roman"/>
                <a:cs typeface="Times New Roman"/>
              </a:rPr>
              <a:t> This shows the power difference over cycle anomalies detected by each model.</a:t>
            </a:r>
          </a:p>
        </p:txBody>
      </p:sp>
      <p:pic>
        <p:nvPicPr>
          <p:cNvPr id="5" name="Picture 4" descr="A graph showing a number of power differences&#10;&#10;AI-generated content may be incorrect., Picture">
            <a:extLst>
              <a:ext uri="{FF2B5EF4-FFF2-40B4-BE49-F238E27FC236}">
                <a16:creationId xmlns:a16="http://schemas.microsoft.com/office/drawing/2014/main" id="{8894CB30-40CE-5FC9-5BA9-27EB8C781D8C}"/>
              </a:ext>
            </a:extLst>
          </p:cNvPr>
          <p:cNvPicPr>
            <a:picLocks noChangeAspect="1"/>
          </p:cNvPicPr>
          <p:nvPr/>
        </p:nvPicPr>
        <p:blipFill>
          <a:blip r:embed="rId2"/>
          <a:stretch>
            <a:fillRect/>
          </a:stretch>
        </p:blipFill>
        <p:spPr>
          <a:xfrm>
            <a:off x="1894" y="3370"/>
            <a:ext cx="6389799" cy="3424097"/>
          </a:xfrm>
          <a:prstGeom prst="rect">
            <a:avLst/>
          </a:prstGeom>
        </p:spPr>
      </p:pic>
      <p:pic>
        <p:nvPicPr>
          <p:cNvPr id="7" name="Picture 6" descr="A graph showing different numbers&#10;&#10;AI-generated content may be incorrect., Picture">
            <a:extLst>
              <a:ext uri="{FF2B5EF4-FFF2-40B4-BE49-F238E27FC236}">
                <a16:creationId xmlns:a16="http://schemas.microsoft.com/office/drawing/2014/main" id="{ADD8197E-DC7C-AF82-EEC8-34EECE2E1E09}"/>
              </a:ext>
            </a:extLst>
          </p:cNvPr>
          <p:cNvPicPr>
            <a:picLocks noChangeAspect="1"/>
          </p:cNvPicPr>
          <p:nvPr/>
        </p:nvPicPr>
        <p:blipFill>
          <a:blip r:embed="rId3"/>
          <a:stretch>
            <a:fillRect/>
          </a:stretch>
        </p:blipFill>
        <p:spPr>
          <a:xfrm>
            <a:off x="-1836" y="3423258"/>
            <a:ext cx="6386621" cy="3436045"/>
          </a:xfrm>
          <a:prstGeom prst="rect">
            <a:avLst/>
          </a:prstGeom>
        </p:spPr>
      </p:pic>
      <p:cxnSp>
        <p:nvCxnSpPr>
          <p:cNvPr id="3" name="Straight Arrow Connector 2">
            <a:extLst>
              <a:ext uri="{FF2B5EF4-FFF2-40B4-BE49-F238E27FC236}">
                <a16:creationId xmlns:a16="http://schemas.microsoft.com/office/drawing/2014/main" id="{A5DC8859-B0F7-3460-6E24-D544D94651AA}"/>
              </a:ext>
            </a:extLst>
          </p:cNvPr>
          <p:cNvCxnSpPr/>
          <p:nvPr/>
        </p:nvCxnSpPr>
        <p:spPr>
          <a:xfrm flipV="1">
            <a:off x="3907" y="3353850"/>
            <a:ext cx="12177385" cy="45928"/>
          </a:xfrm>
          <a:prstGeom prst="straightConnector1">
            <a:avLst/>
          </a:prstGeom>
          <a:ln w="28575">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871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C1368-F006-A4F7-F5ED-7F23D5525B22}"/>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BFD4BB4-5300-C543-98FF-4022ECED720A}"/>
              </a:ext>
            </a:extLst>
          </p:cNvPr>
          <p:cNvSpPr>
            <a:spLocks noGrp="1"/>
          </p:cNvSpPr>
          <p:nvPr>
            <p:ph idx="1"/>
          </p:nvPr>
        </p:nvSpPr>
        <p:spPr>
          <a:xfrm>
            <a:off x="6528592" y="970871"/>
            <a:ext cx="5664376" cy="1533673"/>
          </a:xfrm>
        </p:spPr>
        <p:txBody>
          <a:bodyPr vert="horz" lIns="91440" tIns="45720" rIns="91440" bIns="45720" rtlCol="0" anchor="t">
            <a:normAutofit lnSpcReduction="10000"/>
          </a:bodyPr>
          <a:lstStyle/>
          <a:p>
            <a:pPr marL="0" indent="0">
              <a:buNone/>
            </a:pPr>
            <a:r>
              <a:rPr lang="en-US" b="1" dirty="0">
                <a:latin typeface="Times New Roman"/>
                <a:cs typeface="Times New Roman"/>
              </a:rPr>
              <a:t>Figure 3:</a:t>
            </a:r>
            <a:r>
              <a:rPr lang="en-US" dirty="0">
                <a:latin typeface="Times New Roman"/>
                <a:cs typeface="Times New Roman"/>
              </a:rPr>
              <a:t> This shows a histogram of the data for power difference with anomalies detected based on F1-score weighted anomalies.</a:t>
            </a:r>
          </a:p>
        </p:txBody>
      </p:sp>
      <p:sp>
        <p:nvSpPr>
          <p:cNvPr id="6" name="Content Placeholder 3">
            <a:extLst>
              <a:ext uri="{FF2B5EF4-FFF2-40B4-BE49-F238E27FC236}">
                <a16:creationId xmlns:a16="http://schemas.microsoft.com/office/drawing/2014/main" id="{D5DB314D-91EF-22DB-FC70-469740784550}"/>
              </a:ext>
            </a:extLst>
          </p:cNvPr>
          <p:cNvSpPr txBox="1">
            <a:spLocks/>
          </p:cNvSpPr>
          <p:nvPr/>
        </p:nvSpPr>
        <p:spPr>
          <a:xfrm>
            <a:off x="6530379" y="4395542"/>
            <a:ext cx="5664376" cy="1533673"/>
          </a:xfrm>
          <a:prstGeom prst="rect">
            <a:avLst/>
          </a:prstGeom>
          <a:ln>
            <a:no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Times New Roman"/>
                <a:cs typeface="Times New Roman"/>
              </a:rPr>
              <a:t>Figure 4:</a:t>
            </a:r>
            <a:r>
              <a:rPr lang="en-US" dirty="0">
                <a:latin typeface="Times New Roman"/>
                <a:cs typeface="Times New Roman"/>
              </a:rPr>
              <a:t> This shows a histogram of the data for capacity with anomalies detected based on F1-score weighted anomalies.</a:t>
            </a:r>
          </a:p>
        </p:txBody>
      </p:sp>
      <p:pic>
        <p:nvPicPr>
          <p:cNvPr id="2" name="Picture 1" descr="A graph of a person with a red and blue line&#10;&#10;AI-generated content may be incorrect., Picture">
            <a:extLst>
              <a:ext uri="{FF2B5EF4-FFF2-40B4-BE49-F238E27FC236}">
                <a16:creationId xmlns:a16="http://schemas.microsoft.com/office/drawing/2014/main" id="{9C74B329-4849-AE33-7F57-FE79622960C8}"/>
              </a:ext>
            </a:extLst>
          </p:cNvPr>
          <p:cNvPicPr>
            <a:picLocks noChangeAspect="1"/>
          </p:cNvPicPr>
          <p:nvPr/>
        </p:nvPicPr>
        <p:blipFill>
          <a:blip r:embed="rId2"/>
          <a:stretch>
            <a:fillRect/>
          </a:stretch>
        </p:blipFill>
        <p:spPr>
          <a:xfrm>
            <a:off x="-4574" y="-2221"/>
            <a:ext cx="6537691" cy="3482200"/>
          </a:xfrm>
          <a:prstGeom prst="rect">
            <a:avLst/>
          </a:prstGeom>
        </p:spPr>
      </p:pic>
      <p:pic>
        <p:nvPicPr>
          <p:cNvPr id="7" name="Picture 6" descr="A graph with blue and red lines&#10;&#10;AI-generated content may be incorrect., Picture">
            <a:extLst>
              <a:ext uri="{FF2B5EF4-FFF2-40B4-BE49-F238E27FC236}">
                <a16:creationId xmlns:a16="http://schemas.microsoft.com/office/drawing/2014/main" id="{DD412580-ACCF-80F0-A923-BF324DF4D528}"/>
              </a:ext>
            </a:extLst>
          </p:cNvPr>
          <p:cNvPicPr>
            <a:picLocks noChangeAspect="1"/>
          </p:cNvPicPr>
          <p:nvPr/>
        </p:nvPicPr>
        <p:blipFill>
          <a:blip r:embed="rId3"/>
          <a:stretch>
            <a:fillRect/>
          </a:stretch>
        </p:blipFill>
        <p:spPr>
          <a:xfrm>
            <a:off x="-917" y="3480431"/>
            <a:ext cx="6537386" cy="3378214"/>
          </a:xfrm>
          <a:prstGeom prst="rect">
            <a:avLst/>
          </a:prstGeom>
        </p:spPr>
      </p:pic>
      <p:cxnSp>
        <p:nvCxnSpPr>
          <p:cNvPr id="5" name="Straight Arrow Connector 4">
            <a:extLst>
              <a:ext uri="{FF2B5EF4-FFF2-40B4-BE49-F238E27FC236}">
                <a16:creationId xmlns:a16="http://schemas.microsoft.com/office/drawing/2014/main" id="{BB85F785-431C-EB3E-D8CA-9D270F7E0C00}"/>
              </a:ext>
            </a:extLst>
          </p:cNvPr>
          <p:cNvCxnSpPr/>
          <p:nvPr/>
        </p:nvCxnSpPr>
        <p:spPr>
          <a:xfrm flipV="1">
            <a:off x="-6531" y="3447795"/>
            <a:ext cx="12177385" cy="45928"/>
          </a:xfrm>
          <a:prstGeom prst="straightConnector1">
            <a:avLst/>
          </a:prstGeom>
          <a:ln w="28575">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2262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D7827-A983-8C63-6333-2BC7CCEC59E8}"/>
            </a:ext>
          </a:extLst>
        </p:cNvPr>
        <p:cNvGrpSpPr/>
        <p:nvPr/>
      </p:nvGrpSpPr>
      <p:grpSpPr>
        <a:xfrm>
          <a:off x="0" y="0"/>
          <a:ext cx="0" cy="0"/>
          <a:chOff x="0" y="0"/>
          <a:chExt cx="0" cy="0"/>
        </a:xfrm>
      </p:grpSpPr>
      <p:sp>
        <p:nvSpPr>
          <p:cNvPr id="6" name="Content Placeholder 3">
            <a:extLst>
              <a:ext uri="{FF2B5EF4-FFF2-40B4-BE49-F238E27FC236}">
                <a16:creationId xmlns:a16="http://schemas.microsoft.com/office/drawing/2014/main" id="{3F30D5C1-9E2C-39A7-8F7C-C55C461EB508}"/>
              </a:ext>
            </a:extLst>
          </p:cNvPr>
          <p:cNvSpPr txBox="1">
            <a:spLocks/>
          </p:cNvSpPr>
          <p:nvPr/>
        </p:nvSpPr>
        <p:spPr>
          <a:xfrm>
            <a:off x="128" y="5735602"/>
            <a:ext cx="12189113" cy="944008"/>
          </a:xfrm>
          <a:prstGeom prst="rect">
            <a:avLst/>
          </a:prstGeom>
          <a:ln>
            <a:noFill/>
          </a:ln>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latin typeface="Times New Roman"/>
                <a:cs typeface="Times New Roman"/>
              </a:rPr>
              <a:t>Figure 5:</a:t>
            </a:r>
            <a:r>
              <a:rPr lang="en-US" dirty="0">
                <a:latin typeface="Times New Roman"/>
                <a:cs typeface="Times New Roman"/>
              </a:rPr>
              <a:t> This shows a graph of measured power versus time for each of the four batteries individually with anomalies detected based on F1-score weighted anomalies.</a:t>
            </a:r>
            <a:endParaRPr lang="en-US" dirty="0"/>
          </a:p>
        </p:txBody>
      </p:sp>
      <p:pic>
        <p:nvPicPr>
          <p:cNvPr id="3" name="Picture 2" descr="A graph showing a graph&#10;&#10;AI-generated content may be incorrect., Picture">
            <a:extLst>
              <a:ext uri="{FF2B5EF4-FFF2-40B4-BE49-F238E27FC236}">
                <a16:creationId xmlns:a16="http://schemas.microsoft.com/office/drawing/2014/main" id="{C39C4057-FC20-DE2B-E57F-41915C804618}"/>
              </a:ext>
            </a:extLst>
          </p:cNvPr>
          <p:cNvPicPr>
            <a:picLocks noChangeAspect="1"/>
          </p:cNvPicPr>
          <p:nvPr/>
        </p:nvPicPr>
        <p:blipFill>
          <a:blip r:embed="rId3"/>
          <a:stretch>
            <a:fillRect/>
          </a:stretch>
        </p:blipFill>
        <p:spPr>
          <a:xfrm>
            <a:off x="1429551" y="210255"/>
            <a:ext cx="9331285" cy="5377615"/>
          </a:xfrm>
          <a:prstGeom prst="rect">
            <a:avLst/>
          </a:prstGeom>
        </p:spPr>
      </p:pic>
    </p:spTree>
    <p:extLst>
      <p:ext uri="{BB962C8B-B14F-4D97-AF65-F5344CB8AC3E}">
        <p14:creationId xmlns:p14="http://schemas.microsoft.com/office/powerpoint/2010/main" val="2588201760"/>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4FFEC-D2BD-86C0-F07D-C85FA044FA4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1DBB3F0-DC8C-B4CF-5A50-39CD4A9DB88F}"/>
              </a:ext>
            </a:extLst>
          </p:cNvPr>
          <p:cNvSpPr>
            <a:spLocks noGrp="1"/>
          </p:cNvSpPr>
          <p:nvPr>
            <p:ph idx="1"/>
          </p:nvPr>
        </p:nvSpPr>
        <p:spPr>
          <a:xfrm>
            <a:off x="-290" y="5880365"/>
            <a:ext cx="12185851" cy="505184"/>
          </a:xfrm>
        </p:spPr>
        <p:txBody>
          <a:bodyPr vert="horz" lIns="91440" tIns="45720" rIns="91440" bIns="45720" rtlCol="0" anchor="t">
            <a:normAutofit/>
          </a:bodyPr>
          <a:lstStyle/>
          <a:p>
            <a:pPr marL="0" indent="0" algn="ctr">
              <a:buNone/>
            </a:pPr>
            <a:r>
              <a:rPr lang="en-US" b="1">
                <a:latin typeface="Times New Roman"/>
                <a:cs typeface="Times New Roman"/>
              </a:rPr>
              <a:t>Figures 6A, 6B, and 6C:</a:t>
            </a:r>
            <a:r>
              <a:rPr lang="en-US">
                <a:latin typeface="Times New Roman"/>
                <a:cs typeface="Times New Roman"/>
              </a:rPr>
              <a:t> These are PCA plots for each of the three models used.</a:t>
            </a:r>
            <a:endParaRPr lang="en-US"/>
          </a:p>
        </p:txBody>
      </p:sp>
      <p:pic>
        <p:nvPicPr>
          <p:cNvPr id="2" name="Picture 1" descr="A grid with numbers and numbers on it&#10;&#10;AI-generated content may be incorrect., Picture">
            <a:extLst>
              <a:ext uri="{FF2B5EF4-FFF2-40B4-BE49-F238E27FC236}">
                <a16:creationId xmlns:a16="http://schemas.microsoft.com/office/drawing/2014/main" id="{31C17A28-529A-F306-F4B7-03B33DB197BE}"/>
              </a:ext>
            </a:extLst>
          </p:cNvPr>
          <p:cNvPicPr>
            <a:picLocks noChangeAspect="1"/>
          </p:cNvPicPr>
          <p:nvPr/>
        </p:nvPicPr>
        <p:blipFill>
          <a:blip r:embed="rId2"/>
          <a:stretch>
            <a:fillRect/>
          </a:stretch>
        </p:blipFill>
        <p:spPr>
          <a:xfrm>
            <a:off x="223837" y="271405"/>
            <a:ext cx="11744325" cy="3524250"/>
          </a:xfrm>
          <a:prstGeom prst="rect">
            <a:avLst/>
          </a:prstGeom>
        </p:spPr>
      </p:pic>
      <p:sp>
        <p:nvSpPr>
          <p:cNvPr id="6" name="Content Placeholder 3">
            <a:extLst>
              <a:ext uri="{FF2B5EF4-FFF2-40B4-BE49-F238E27FC236}">
                <a16:creationId xmlns:a16="http://schemas.microsoft.com/office/drawing/2014/main" id="{A586BF36-C7E7-3C67-2ED8-A250B6901EC3}"/>
              </a:ext>
            </a:extLst>
          </p:cNvPr>
          <p:cNvSpPr txBox="1">
            <a:spLocks/>
          </p:cNvSpPr>
          <p:nvPr/>
        </p:nvSpPr>
        <p:spPr>
          <a:xfrm>
            <a:off x="4580264" y="4345835"/>
            <a:ext cx="2629359" cy="1350058"/>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i="1">
                <a:latin typeface="Times New Roman"/>
                <a:cs typeface="Times New Roman"/>
              </a:rPr>
              <a:t>(BLUE) Undetected Anomalies in LOF model</a:t>
            </a:r>
          </a:p>
        </p:txBody>
      </p:sp>
      <p:sp>
        <p:nvSpPr>
          <p:cNvPr id="7" name="Oval 6">
            <a:extLst>
              <a:ext uri="{FF2B5EF4-FFF2-40B4-BE49-F238E27FC236}">
                <a16:creationId xmlns:a16="http://schemas.microsoft.com/office/drawing/2014/main" id="{874FBB8D-8B9E-C4D9-ED87-64E4FBA58D9C}"/>
              </a:ext>
            </a:extLst>
          </p:cNvPr>
          <p:cNvSpPr/>
          <p:nvPr/>
        </p:nvSpPr>
        <p:spPr>
          <a:xfrm>
            <a:off x="5803439" y="1297415"/>
            <a:ext cx="463516" cy="61031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cxnSp>
        <p:nvCxnSpPr>
          <p:cNvPr id="8" name="Straight Arrow Connector 7">
            <a:extLst>
              <a:ext uri="{FF2B5EF4-FFF2-40B4-BE49-F238E27FC236}">
                <a16:creationId xmlns:a16="http://schemas.microsoft.com/office/drawing/2014/main" id="{3951C36C-692F-7429-257F-A3A186DBE6B4}"/>
              </a:ext>
            </a:extLst>
          </p:cNvPr>
          <p:cNvCxnSpPr/>
          <p:nvPr/>
        </p:nvCxnSpPr>
        <p:spPr>
          <a:xfrm flipH="1">
            <a:off x="5649381" y="1916911"/>
            <a:ext cx="380082" cy="2420037"/>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C56B260C-D60D-AF4B-6CF5-ABAC0E47676E}"/>
              </a:ext>
            </a:extLst>
          </p:cNvPr>
          <p:cNvSpPr/>
          <p:nvPr/>
        </p:nvSpPr>
        <p:spPr>
          <a:xfrm rot="-1260000">
            <a:off x="1839798" y="1879742"/>
            <a:ext cx="1142888" cy="56441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12" name="Content Placeholder 3">
            <a:extLst>
              <a:ext uri="{FF2B5EF4-FFF2-40B4-BE49-F238E27FC236}">
                <a16:creationId xmlns:a16="http://schemas.microsoft.com/office/drawing/2014/main" id="{7B7E25FA-CBA3-99F7-B197-C947684F74FC}"/>
              </a:ext>
            </a:extLst>
          </p:cNvPr>
          <p:cNvSpPr txBox="1">
            <a:spLocks/>
          </p:cNvSpPr>
          <p:nvPr/>
        </p:nvSpPr>
        <p:spPr>
          <a:xfrm>
            <a:off x="880432" y="4336654"/>
            <a:ext cx="2629359" cy="1350058"/>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i="1" dirty="0">
                <a:latin typeface="Times New Roman"/>
                <a:cs typeface="Times New Roman"/>
              </a:rPr>
              <a:t>(BLUE) Undetected Anomalies in IF model</a:t>
            </a:r>
          </a:p>
        </p:txBody>
      </p:sp>
      <p:cxnSp>
        <p:nvCxnSpPr>
          <p:cNvPr id="13" name="Straight Arrow Connector 12">
            <a:extLst>
              <a:ext uri="{FF2B5EF4-FFF2-40B4-BE49-F238E27FC236}">
                <a16:creationId xmlns:a16="http://schemas.microsoft.com/office/drawing/2014/main" id="{8F49A92B-208F-6A70-50BD-F28560FC0F5D}"/>
              </a:ext>
            </a:extLst>
          </p:cNvPr>
          <p:cNvCxnSpPr>
            <a:cxnSpLocks/>
          </p:cNvCxnSpPr>
          <p:nvPr/>
        </p:nvCxnSpPr>
        <p:spPr>
          <a:xfrm flipH="1">
            <a:off x="2050536" y="2458573"/>
            <a:ext cx="370902" cy="1979363"/>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CB4FA0E4-3688-1A6F-F852-78E4558DE4A5}"/>
              </a:ext>
            </a:extLst>
          </p:cNvPr>
          <p:cNvSpPr/>
          <p:nvPr/>
        </p:nvSpPr>
        <p:spPr>
          <a:xfrm rot="-1260000">
            <a:off x="9652593" y="1879741"/>
            <a:ext cx="1142888" cy="56441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16" name="Content Placeholder 3">
            <a:extLst>
              <a:ext uri="{FF2B5EF4-FFF2-40B4-BE49-F238E27FC236}">
                <a16:creationId xmlns:a16="http://schemas.microsoft.com/office/drawing/2014/main" id="{F348E850-1978-1E70-AF0B-E7A57801BB0D}"/>
              </a:ext>
            </a:extLst>
          </p:cNvPr>
          <p:cNvSpPr txBox="1">
            <a:spLocks/>
          </p:cNvSpPr>
          <p:nvPr/>
        </p:nvSpPr>
        <p:spPr>
          <a:xfrm>
            <a:off x="8785034" y="4336653"/>
            <a:ext cx="2629359" cy="1350058"/>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i="1">
                <a:latin typeface="Times New Roman"/>
                <a:cs typeface="Times New Roman"/>
              </a:rPr>
              <a:t>(BLUE) Undetected Anomalies in SVM model</a:t>
            </a:r>
          </a:p>
        </p:txBody>
      </p:sp>
      <p:cxnSp>
        <p:nvCxnSpPr>
          <p:cNvPr id="17" name="Straight Arrow Connector 16">
            <a:extLst>
              <a:ext uri="{FF2B5EF4-FFF2-40B4-BE49-F238E27FC236}">
                <a16:creationId xmlns:a16="http://schemas.microsoft.com/office/drawing/2014/main" id="{A3CD3C4D-9C23-1737-660C-33E0D0BA0513}"/>
              </a:ext>
            </a:extLst>
          </p:cNvPr>
          <p:cNvCxnSpPr>
            <a:cxnSpLocks/>
          </p:cNvCxnSpPr>
          <p:nvPr/>
        </p:nvCxnSpPr>
        <p:spPr>
          <a:xfrm flipH="1">
            <a:off x="9909234" y="2440211"/>
            <a:ext cx="370902" cy="1979363"/>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2CEF1ADB-0F49-533D-37CF-5DC4F585FCAA}"/>
              </a:ext>
            </a:extLst>
          </p:cNvPr>
          <p:cNvCxnSpPr/>
          <p:nvPr/>
        </p:nvCxnSpPr>
        <p:spPr>
          <a:xfrm>
            <a:off x="4189688" y="7312"/>
            <a:ext cx="79331" cy="5705606"/>
          </a:xfrm>
          <a:prstGeom prst="straightConnector1">
            <a:avLst/>
          </a:prstGeom>
          <a:ln w="2857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E9C81FE0-CD91-6298-0E3B-6EBCB986E12E}"/>
              </a:ext>
            </a:extLst>
          </p:cNvPr>
          <p:cNvCxnSpPr>
            <a:cxnSpLocks/>
          </p:cNvCxnSpPr>
          <p:nvPr/>
        </p:nvCxnSpPr>
        <p:spPr>
          <a:xfrm>
            <a:off x="8083194" y="17750"/>
            <a:ext cx="79331" cy="5695168"/>
          </a:xfrm>
          <a:prstGeom prst="straightConnector1">
            <a:avLst/>
          </a:prstGeom>
          <a:ln w="28575">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3AE4ACF7-FE18-8F90-C999-AC23C9463A1C}"/>
              </a:ext>
            </a:extLst>
          </p:cNvPr>
          <p:cNvSpPr txBox="1"/>
          <p:nvPr/>
        </p:nvSpPr>
        <p:spPr>
          <a:xfrm>
            <a:off x="456804" y="12570"/>
            <a:ext cx="10957589" cy="830997"/>
          </a:xfrm>
          <a:prstGeom prst="rect">
            <a:avLst/>
          </a:prstGeom>
          <a:solidFill>
            <a:schemeClr val="bg1"/>
          </a:solidFill>
        </p:spPr>
        <p:txBody>
          <a:bodyPr wrap="square" rtlCol="0">
            <a:spAutoFit/>
          </a:bodyPr>
          <a:lstStyle/>
          <a:p>
            <a:pPr algn="ctr"/>
            <a:r>
              <a:rPr lang="en-US" sz="2400" dirty="0"/>
              <a:t>Isolation Forests		Local Outlier Factor		One-Class SVM</a:t>
            </a:r>
          </a:p>
          <a:p>
            <a:pPr algn="just"/>
            <a:r>
              <a:rPr lang="en-US" sz="2400" dirty="0"/>
              <a:t>        Anomalies Detected	            Anomalies Detected	         Anomalies Detected</a:t>
            </a:r>
          </a:p>
        </p:txBody>
      </p:sp>
    </p:spTree>
    <p:extLst>
      <p:ext uri="{BB962C8B-B14F-4D97-AF65-F5344CB8AC3E}">
        <p14:creationId xmlns:p14="http://schemas.microsoft.com/office/powerpoint/2010/main" val="3100691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B5E85-E337-442B-A836-7CB956491215}"/>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7BAA75C-9125-F3AE-1DE8-A5653B226EB7}"/>
              </a:ext>
            </a:extLst>
          </p:cNvPr>
          <p:cNvSpPr>
            <a:spLocks noGrp="1"/>
          </p:cNvSpPr>
          <p:nvPr>
            <p:ph idx="1"/>
          </p:nvPr>
        </p:nvSpPr>
        <p:spPr>
          <a:xfrm>
            <a:off x="2223955" y="4585976"/>
            <a:ext cx="7737048" cy="1152737"/>
          </a:xfrm>
        </p:spPr>
        <p:txBody>
          <a:bodyPr vert="horz" lIns="91440" tIns="45720" rIns="91440" bIns="45720" rtlCol="0" anchor="t">
            <a:normAutofit/>
          </a:bodyPr>
          <a:lstStyle/>
          <a:p>
            <a:pPr marL="0" indent="0" algn="ctr">
              <a:buNone/>
            </a:pPr>
            <a:r>
              <a:rPr lang="en-US" b="1" dirty="0">
                <a:latin typeface="Times New Roman"/>
                <a:cs typeface="Times New Roman"/>
              </a:rPr>
              <a:t>Figures 7 and 8:</a:t>
            </a:r>
            <a:r>
              <a:rPr lang="en-US" dirty="0">
                <a:latin typeface="Times New Roman"/>
                <a:cs typeface="Times New Roman"/>
              </a:rPr>
              <a:t> This shows the PCA plots for F1-score weighted anomalies and overlap anomalies.</a:t>
            </a:r>
          </a:p>
        </p:txBody>
      </p:sp>
      <p:sp>
        <p:nvSpPr>
          <p:cNvPr id="6" name="Content Placeholder 3">
            <a:extLst>
              <a:ext uri="{FF2B5EF4-FFF2-40B4-BE49-F238E27FC236}">
                <a16:creationId xmlns:a16="http://schemas.microsoft.com/office/drawing/2014/main" id="{9DA96413-372D-1A57-22D6-73C29000A338}"/>
              </a:ext>
            </a:extLst>
          </p:cNvPr>
          <p:cNvSpPr txBox="1">
            <a:spLocks/>
          </p:cNvSpPr>
          <p:nvPr/>
        </p:nvSpPr>
        <p:spPr>
          <a:xfrm>
            <a:off x="-8467" y="5557691"/>
            <a:ext cx="3047542" cy="87266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Times New Roman"/>
                <a:cs typeface="Times New Roman"/>
              </a:rPr>
              <a:t>F1-Score Weighted Comparison; Highlights model weights  </a:t>
            </a:r>
            <a:endParaRPr lang="en-US" sz="2000" dirty="0"/>
          </a:p>
        </p:txBody>
      </p:sp>
      <p:pic>
        <p:nvPicPr>
          <p:cNvPr id="3" name="Picture 2" descr="A graph of a graph showing a diagram of a structure&#10;&#10;AI-generated content may be incorrect., Picture">
            <a:extLst>
              <a:ext uri="{FF2B5EF4-FFF2-40B4-BE49-F238E27FC236}">
                <a16:creationId xmlns:a16="http://schemas.microsoft.com/office/drawing/2014/main" id="{4A001A38-19BC-4DEF-9FFD-7612EA1D615B}"/>
              </a:ext>
            </a:extLst>
          </p:cNvPr>
          <p:cNvPicPr>
            <a:picLocks noChangeAspect="1"/>
          </p:cNvPicPr>
          <p:nvPr/>
        </p:nvPicPr>
        <p:blipFill>
          <a:blip r:embed="rId2"/>
          <a:stretch>
            <a:fillRect/>
          </a:stretch>
        </p:blipFill>
        <p:spPr>
          <a:xfrm>
            <a:off x="6573144" y="155498"/>
            <a:ext cx="5601405" cy="4428224"/>
          </a:xfrm>
          <a:prstGeom prst="rect">
            <a:avLst/>
          </a:prstGeom>
        </p:spPr>
      </p:pic>
      <p:pic>
        <p:nvPicPr>
          <p:cNvPr id="7" name="Picture 6" descr="A graph of a graph showing a number of objects&#10;&#10;AI-generated content may be incorrect., Picture">
            <a:extLst>
              <a:ext uri="{FF2B5EF4-FFF2-40B4-BE49-F238E27FC236}">
                <a16:creationId xmlns:a16="http://schemas.microsoft.com/office/drawing/2014/main" id="{C6796B4D-C1FF-783A-0FA8-6EF5B8119054}"/>
              </a:ext>
            </a:extLst>
          </p:cNvPr>
          <p:cNvPicPr>
            <a:picLocks noChangeAspect="1"/>
          </p:cNvPicPr>
          <p:nvPr/>
        </p:nvPicPr>
        <p:blipFill>
          <a:blip r:embed="rId3"/>
          <a:stretch>
            <a:fillRect/>
          </a:stretch>
        </p:blipFill>
        <p:spPr>
          <a:xfrm>
            <a:off x="728629" y="152637"/>
            <a:ext cx="4976592" cy="4427519"/>
          </a:xfrm>
          <a:prstGeom prst="rect">
            <a:avLst/>
          </a:prstGeom>
        </p:spPr>
      </p:pic>
      <p:sp>
        <p:nvSpPr>
          <p:cNvPr id="8" name="Content Placeholder 3">
            <a:extLst>
              <a:ext uri="{FF2B5EF4-FFF2-40B4-BE49-F238E27FC236}">
                <a16:creationId xmlns:a16="http://schemas.microsoft.com/office/drawing/2014/main" id="{7DA74D1B-BD3D-6C2D-600C-8BEEDE66A171}"/>
              </a:ext>
            </a:extLst>
          </p:cNvPr>
          <p:cNvSpPr txBox="1">
            <a:spLocks/>
          </p:cNvSpPr>
          <p:nvPr/>
        </p:nvSpPr>
        <p:spPr>
          <a:xfrm>
            <a:off x="9559755" y="5431259"/>
            <a:ext cx="2610475" cy="881842"/>
          </a:xfrm>
          <a:prstGeom prst="rect">
            <a:avLst/>
          </a:prstGeom>
        </p:spPr>
        <p:txBody>
          <a:bodyPr vert="horz" lIns="91440" tIns="45720" rIns="91440" bIns="45720" rtlCol="0" anchor="t">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atin typeface="Times New Roman"/>
                <a:cs typeface="Times New Roman"/>
              </a:rPr>
              <a:t>Highlights Anomalies in union with all 3 algorithms; most likely to be "true positives"      </a:t>
            </a:r>
            <a:endParaRPr lang="en-US"/>
          </a:p>
        </p:txBody>
      </p:sp>
      <p:sp>
        <p:nvSpPr>
          <p:cNvPr id="10" name="Arrow: Up 9">
            <a:extLst>
              <a:ext uri="{FF2B5EF4-FFF2-40B4-BE49-F238E27FC236}">
                <a16:creationId xmlns:a16="http://schemas.microsoft.com/office/drawing/2014/main" id="{53393A2A-3335-2FFE-11CD-C20FCAC431EF}"/>
              </a:ext>
            </a:extLst>
          </p:cNvPr>
          <p:cNvSpPr/>
          <p:nvPr/>
        </p:nvSpPr>
        <p:spPr>
          <a:xfrm>
            <a:off x="1390296" y="4588110"/>
            <a:ext cx="237461" cy="836278"/>
          </a:xfrm>
          <a:prstGeom prst="upArrow">
            <a:avLst/>
          </a:prstGeom>
          <a:solidFill>
            <a:schemeClr val="tx1"/>
          </a:solidFill>
          <a:ln>
            <a:solidFill>
              <a:srgbClr val="196B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12" name="Arrow: Up 11">
            <a:extLst>
              <a:ext uri="{FF2B5EF4-FFF2-40B4-BE49-F238E27FC236}">
                <a16:creationId xmlns:a16="http://schemas.microsoft.com/office/drawing/2014/main" id="{1E0A7779-8CB0-00EE-F75C-8CFA3A10F692}"/>
              </a:ext>
            </a:extLst>
          </p:cNvPr>
          <p:cNvSpPr/>
          <p:nvPr/>
        </p:nvSpPr>
        <p:spPr>
          <a:xfrm>
            <a:off x="11267966" y="4588897"/>
            <a:ext cx="237461" cy="836278"/>
          </a:xfrm>
          <a:prstGeom prst="upArrow">
            <a:avLst/>
          </a:prstGeom>
          <a:solidFill>
            <a:schemeClr val="tx1"/>
          </a:solidFill>
          <a:ln>
            <a:solidFill>
              <a:srgbClr val="196B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cxnSp>
        <p:nvCxnSpPr>
          <p:cNvPr id="5" name="Straight Arrow Connector 4">
            <a:extLst>
              <a:ext uri="{FF2B5EF4-FFF2-40B4-BE49-F238E27FC236}">
                <a16:creationId xmlns:a16="http://schemas.microsoft.com/office/drawing/2014/main" id="{C032B14B-BC1B-1D06-8938-34604B4B24D5}"/>
              </a:ext>
            </a:extLst>
          </p:cNvPr>
          <p:cNvCxnSpPr/>
          <p:nvPr/>
        </p:nvCxnSpPr>
        <p:spPr>
          <a:xfrm>
            <a:off x="6193852" y="-3126"/>
            <a:ext cx="27140" cy="4609579"/>
          </a:xfrm>
          <a:prstGeom prst="straightConnector1">
            <a:avLst/>
          </a:prstGeom>
          <a:ln w="28575">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0406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20433-D95E-5E28-81C2-3B1AE6C47FD2}"/>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B77753A-8654-C28C-A5D7-7BFF648652C2}"/>
              </a:ext>
            </a:extLst>
          </p:cNvPr>
          <p:cNvSpPr>
            <a:spLocks noGrp="1"/>
          </p:cNvSpPr>
          <p:nvPr>
            <p:ph idx="1"/>
          </p:nvPr>
        </p:nvSpPr>
        <p:spPr>
          <a:xfrm>
            <a:off x="-3824" y="5359617"/>
            <a:ext cx="12192327" cy="1249531"/>
          </a:xfrm>
        </p:spPr>
        <p:txBody>
          <a:bodyPr vert="horz" lIns="91440" tIns="45720" rIns="91440" bIns="45720" rtlCol="0" anchor="t">
            <a:normAutofit/>
          </a:bodyPr>
          <a:lstStyle/>
          <a:p>
            <a:pPr marL="0" indent="0" algn="ctr">
              <a:buNone/>
            </a:pPr>
            <a:r>
              <a:rPr lang="en-US" b="1" dirty="0">
                <a:latin typeface="Times New Roman"/>
                <a:cs typeface="Times New Roman"/>
              </a:rPr>
              <a:t>Figure 9:</a:t>
            </a:r>
            <a:r>
              <a:rPr lang="en-US" dirty="0">
                <a:latin typeface="Times New Roman"/>
                <a:cs typeface="Times New Roman"/>
              </a:rPr>
              <a:t> This shows the number of anomalies detected through each of the three models (orange, green, and red), the F1-score weighted anomalies (blue), and the  anomalies based on the overlap indices of the three models (purple).</a:t>
            </a:r>
            <a:endParaRPr lang="en-US" dirty="0"/>
          </a:p>
        </p:txBody>
      </p:sp>
      <p:pic>
        <p:nvPicPr>
          <p:cNvPr id="3" name="Picture 2" descr="A graph of different colored bars&#10;&#10;AI-generated content may be incorrect., Picture">
            <a:extLst>
              <a:ext uri="{FF2B5EF4-FFF2-40B4-BE49-F238E27FC236}">
                <a16:creationId xmlns:a16="http://schemas.microsoft.com/office/drawing/2014/main" id="{1D0FFBEA-ED34-2503-E148-A0BFB05A3AA6}"/>
              </a:ext>
            </a:extLst>
          </p:cNvPr>
          <p:cNvPicPr>
            <a:picLocks noChangeAspect="1"/>
          </p:cNvPicPr>
          <p:nvPr/>
        </p:nvPicPr>
        <p:blipFill>
          <a:blip r:embed="rId2"/>
          <a:stretch>
            <a:fillRect/>
          </a:stretch>
        </p:blipFill>
        <p:spPr>
          <a:xfrm>
            <a:off x="761004" y="246076"/>
            <a:ext cx="10672721" cy="4944804"/>
          </a:xfrm>
          <a:prstGeom prst="rect">
            <a:avLst/>
          </a:prstGeom>
        </p:spPr>
      </p:pic>
    </p:spTree>
    <p:extLst>
      <p:ext uri="{BB962C8B-B14F-4D97-AF65-F5344CB8AC3E}">
        <p14:creationId xmlns:p14="http://schemas.microsoft.com/office/powerpoint/2010/main" val="195738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93BF3-A4DA-AFB9-4D0E-7BB624732FF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482C00D-D419-C76D-242B-DD480EF41EBD}"/>
              </a:ext>
            </a:extLst>
          </p:cNvPr>
          <p:cNvSpPr>
            <a:spLocks noGrp="1"/>
          </p:cNvSpPr>
          <p:nvPr>
            <p:ph idx="1"/>
          </p:nvPr>
        </p:nvSpPr>
        <p:spPr>
          <a:xfrm>
            <a:off x="6148198" y="199034"/>
            <a:ext cx="5334130" cy="2040583"/>
          </a:xfrm>
        </p:spPr>
        <p:txBody>
          <a:bodyPr vert="horz" lIns="91440" tIns="45720" rIns="91440" bIns="45720" rtlCol="0" anchor="t">
            <a:noAutofit/>
          </a:bodyPr>
          <a:lstStyle/>
          <a:p>
            <a:pPr marL="0" indent="0">
              <a:buNone/>
            </a:pPr>
            <a:r>
              <a:rPr lang="en-US" b="1" dirty="0">
                <a:latin typeface="Times New Roman"/>
                <a:cs typeface="Times New Roman"/>
              </a:rPr>
              <a:t>Figure 10:</a:t>
            </a:r>
            <a:r>
              <a:rPr lang="en-US" dirty="0">
                <a:latin typeface="Times New Roman"/>
                <a:cs typeface="Times New Roman"/>
              </a:rPr>
              <a:t> This is the PCA plot for the supervised learning model using F1-score weighted anomalies from the unsupervised model as truth values.</a:t>
            </a:r>
          </a:p>
        </p:txBody>
      </p:sp>
      <p:pic>
        <p:nvPicPr>
          <p:cNvPr id="5" name="Picture 4" descr="A graph of a battery data&#10;&#10;AI-generated content may be incorrect., Picture">
            <a:extLst>
              <a:ext uri="{FF2B5EF4-FFF2-40B4-BE49-F238E27FC236}">
                <a16:creationId xmlns:a16="http://schemas.microsoft.com/office/drawing/2014/main" id="{590945FA-4E05-6A24-1B77-608A7FCCCB9C}"/>
              </a:ext>
            </a:extLst>
          </p:cNvPr>
          <p:cNvPicPr>
            <a:picLocks noChangeAspect="1"/>
          </p:cNvPicPr>
          <p:nvPr/>
        </p:nvPicPr>
        <p:blipFill>
          <a:blip r:embed="rId2"/>
          <a:stretch>
            <a:fillRect/>
          </a:stretch>
        </p:blipFill>
        <p:spPr>
          <a:xfrm>
            <a:off x="195835" y="194631"/>
            <a:ext cx="5704329" cy="5862810"/>
          </a:xfrm>
          <a:prstGeom prst="rect">
            <a:avLst/>
          </a:prstGeom>
        </p:spPr>
      </p:pic>
      <p:sp>
        <p:nvSpPr>
          <p:cNvPr id="7" name="Oval 6">
            <a:extLst>
              <a:ext uri="{FF2B5EF4-FFF2-40B4-BE49-F238E27FC236}">
                <a16:creationId xmlns:a16="http://schemas.microsoft.com/office/drawing/2014/main" id="{E889EA5C-C5EE-C620-7451-4F56F7A37B48}"/>
              </a:ext>
            </a:extLst>
          </p:cNvPr>
          <p:cNvSpPr/>
          <p:nvPr/>
        </p:nvSpPr>
        <p:spPr>
          <a:xfrm rot="-960000">
            <a:off x="2222958" y="3078475"/>
            <a:ext cx="509419" cy="93164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cxnSp>
        <p:nvCxnSpPr>
          <p:cNvPr id="12" name="Straight Arrow Connector 11">
            <a:extLst>
              <a:ext uri="{FF2B5EF4-FFF2-40B4-BE49-F238E27FC236}">
                <a16:creationId xmlns:a16="http://schemas.microsoft.com/office/drawing/2014/main" id="{B85D5680-ECD8-F4AE-CF85-775A1D98ED22}"/>
              </a:ext>
            </a:extLst>
          </p:cNvPr>
          <p:cNvCxnSpPr/>
          <p:nvPr/>
        </p:nvCxnSpPr>
        <p:spPr>
          <a:xfrm flipH="1" flipV="1">
            <a:off x="2775815" y="3510683"/>
            <a:ext cx="3767769" cy="1096179"/>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4" name="Content Placeholder 3">
            <a:extLst>
              <a:ext uri="{FF2B5EF4-FFF2-40B4-BE49-F238E27FC236}">
                <a16:creationId xmlns:a16="http://schemas.microsoft.com/office/drawing/2014/main" id="{44281C74-82C4-2CD9-31F3-F437C25E4CE3}"/>
              </a:ext>
            </a:extLst>
          </p:cNvPr>
          <p:cNvSpPr txBox="1">
            <a:spLocks/>
          </p:cNvSpPr>
          <p:nvPr/>
        </p:nvSpPr>
        <p:spPr>
          <a:xfrm>
            <a:off x="6590841" y="4391739"/>
            <a:ext cx="4428780" cy="116644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atin typeface="Times New Roman"/>
                <a:cs typeface="Times New Roman"/>
              </a:rPr>
              <a:t>More Separation in Anomalous Cluster</a:t>
            </a:r>
          </a:p>
        </p:txBody>
      </p:sp>
      <p:sp>
        <p:nvSpPr>
          <p:cNvPr id="15" name="Content Placeholder 3">
            <a:extLst>
              <a:ext uri="{FF2B5EF4-FFF2-40B4-BE49-F238E27FC236}">
                <a16:creationId xmlns:a16="http://schemas.microsoft.com/office/drawing/2014/main" id="{40895182-232B-40C4-D09B-D98BB00879C7}"/>
              </a:ext>
            </a:extLst>
          </p:cNvPr>
          <p:cNvSpPr txBox="1">
            <a:spLocks/>
          </p:cNvSpPr>
          <p:nvPr/>
        </p:nvSpPr>
        <p:spPr>
          <a:xfrm>
            <a:off x="6576283" y="2679796"/>
            <a:ext cx="5604437" cy="89141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a:latin typeface="Times New Roman"/>
                <a:cs typeface="Times New Roman"/>
              </a:rPr>
              <a:t>Clear &amp; distinct groupings ==&gt; Minimized error and operation states of the fuel cell.</a:t>
            </a:r>
            <a:endParaRPr lang="en-US"/>
          </a:p>
        </p:txBody>
      </p:sp>
    </p:spTree>
    <p:extLst>
      <p:ext uri="{BB962C8B-B14F-4D97-AF65-F5344CB8AC3E}">
        <p14:creationId xmlns:p14="http://schemas.microsoft.com/office/powerpoint/2010/main" val="20284733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CD31E-FB51-CD7E-BE70-7F7BE15E2C1F}"/>
            </a:ext>
          </a:extLst>
        </p:cNvPr>
        <p:cNvGrpSpPr/>
        <p:nvPr/>
      </p:nvGrpSpPr>
      <p:grpSpPr>
        <a:xfrm>
          <a:off x="0" y="0"/>
          <a:ext cx="0" cy="0"/>
          <a:chOff x="0" y="0"/>
          <a:chExt cx="0" cy="0"/>
        </a:xfrm>
      </p:grpSpPr>
      <p:sp>
        <p:nvSpPr>
          <p:cNvPr id="14" name="Content Placeholder 3">
            <a:extLst>
              <a:ext uri="{FF2B5EF4-FFF2-40B4-BE49-F238E27FC236}">
                <a16:creationId xmlns:a16="http://schemas.microsoft.com/office/drawing/2014/main" id="{4F2A4539-87B8-2B3C-7D33-7F56DA1B7616}"/>
              </a:ext>
            </a:extLst>
          </p:cNvPr>
          <p:cNvSpPr txBox="1">
            <a:spLocks/>
          </p:cNvSpPr>
          <p:nvPr/>
        </p:nvSpPr>
        <p:spPr>
          <a:xfrm>
            <a:off x="258004" y="4554142"/>
            <a:ext cx="6706541" cy="168607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a:latin typeface="Times New Roman"/>
                <a:cs typeface="Times New Roman"/>
              </a:rPr>
              <a:t>Figure 11:</a:t>
            </a:r>
            <a:r>
              <a:rPr lang="en-US">
                <a:latin typeface="Times New Roman"/>
                <a:cs typeface="Times New Roman"/>
              </a:rPr>
              <a:t> This shows a bar graph of the most important features in anomaly detection for the hydrogen fuel cell data using the supervised learning method.</a:t>
            </a:r>
            <a:endParaRPr lang="en-US"/>
          </a:p>
        </p:txBody>
      </p:sp>
      <p:pic>
        <p:nvPicPr>
          <p:cNvPr id="2" name="Picture 1" descr="A graph of a bar graph&#10;&#10;AI-generated content may be incorrect., Picture">
            <a:extLst>
              <a:ext uri="{FF2B5EF4-FFF2-40B4-BE49-F238E27FC236}">
                <a16:creationId xmlns:a16="http://schemas.microsoft.com/office/drawing/2014/main" id="{53B081D9-52DD-A81C-C53A-B4663B459DC5}"/>
              </a:ext>
            </a:extLst>
          </p:cNvPr>
          <p:cNvPicPr>
            <a:picLocks noChangeAspect="1"/>
          </p:cNvPicPr>
          <p:nvPr/>
        </p:nvPicPr>
        <p:blipFill>
          <a:blip r:embed="rId2"/>
          <a:stretch>
            <a:fillRect/>
          </a:stretch>
        </p:blipFill>
        <p:spPr>
          <a:xfrm>
            <a:off x="257946" y="157641"/>
            <a:ext cx="6704571" cy="3893666"/>
          </a:xfrm>
          <a:prstGeom prst="rect">
            <a:avLst/>
          </a:prstGeom>
        </p:spPr>
      </p:pic>
      <p:sp>
        <p:nvSpPr>
          <p:cNvPr id="10" name="Content Placeholder 3">
            <a:extLst>
              <a:ext uri="{FF2B5EF4-FFF2-40B4-BE49-F238E27FC236}">
                <a16:creationId xmlns:a16="http://schemas.microsoft.com/office/drawing/2014/main" id="{9B8F0DD7-AE54-EF10-3565-C65840C3AB44}"/>
              </a:ext>
            </a:extLst>
          </p:cNvPr>
          <p:cNvSpPr txBox="1">
            <a:spLocks/>
          </p:cNvSpPr>
          <p:nvPr/>
        </p:nvSpPr>
        <p:spPr>
          <a:xfrm>
            <a:off x="7445516" y="4554142"/>
            <a:ext cx="4408185" cy="1457472"/>
          </a:xfrm>
          <a:prstGeom prst="rect">
            <a:avLst/>
          </a:prstGeom>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latin typeface="Times New Roman"/>
                <a:cs typeface="Times New Roman"/>
              </a:rPr>
              <a:t>Figure 12:</a:t>
            </a:r>
            <a:r>
              <a:rPr lang="en-US" dirty="0">
                <a:latin typeface="Times New Roman"/>
                <a:cs typeface="Times New Roman"/>
              </a:rPr>
              <a:t> This shows the heat chart for PCAs 1-10 against the 10 features used for the PCA analysis.</a:t>
            </a:r>
            <a:endParaRPr lang="en-US" dirty="0"/>
          </a:p>
        </p:txBody>
      </p:sp>
      <p:pic>
        <p:nvPicPr>
          <p:cNvPr id="13" name="Picture 12" descr="A chart with numbers and a number of different colored numbers&#10;&#10;AI-generated content may be incorrect., Picture">
            <a:extLst>
              <a:ext uri="{FF2B5EF4-FFF2-40B4-BE49-F238E27FC236}">
                <a16:creationId xmlns:a16="http://schemas.microsoft.com/office/drawing/2014/main" id="{C04F4D49-D7B6-4C18-15DF-8CEB665BD714}"/>
              </a:ext>
            </a:extLst>
          </p:cNvPr>
          <p:cNvPicPr>
            <a:picLocks noChangeAspect="1"/>
          </p:cNvPicPr>
          <p:nvPr/>
        </p:nvPicPr>
        <p:blipFill>
          <a:blip r:embed="rId3"/>
          <a:stretch>
            <a:fillRect/>
          </a:stretch>
        </p:blipFill>
        <p:spPr>
          <a:xfrm>
            <a:off x="7443677" y="160582"/>
            <a:ext cx="4181181" cy="3898667"/>
          </a:xfrm>
          <a:prstGeom prst="rect">
            <a:avLst/>
          </a:prstGeom>
        </p:spPr>
      </p:pic>
      <p:cxnSp>
        <p:nvCxnSpPr>
          <p:cNvPr id="4" name="Straight Arrow Connector 3">
            <a:extLst>
              <a:ext uri="{FF2B5EF4-FFF2-40B4-BE49-F238E27FC236}">
                <a16:creationId xmlns:a16="http://schemas.microsoft.com/office/drawing/2014/main" id="{060F9045-08E2-4F4E-7A24-B200E7FE8A01}"/>
              </a:ext>
            </a:extLst>
          </p:cNvPr>
          <p:cNvCxnSpPr/>
          <p:nvPr/>
        </p:nvCxnSpPr>
        <p:spPr>
          <a:xfrm>
            <a:off x="7279441" y="-3126"/>
            <a:ext cx="16702" cy="6853824"/>
          </a:xfrm>
          <a:prstGeom prst="straightConnector1">
            <a:avLst/>
          </a:prstGeom>
          <a:ln w="28575">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8789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68D2A-EF21-933D-4375-54DF29003408}"/>
            </a:ext>
          </a:extLst>
        </p:cNvPr>
        <p:cNvGrpSpPr/>
        <p:nvPr/>
      </p:nvGrpSpPr>
      <p:grpSpPr>
        <a:xfrm>
          <a:off x="0" y="0"/>
          <a:ext cx="0" cy="0"/>
          <a:chOff x="0" y="0"/>
          <a:chExt cx="0" cy="0"/>
        </a:xfrm>
      </p:grpSpPr>
      <p:sp>
        <p:nvSpPr>
          <p:cNvPr id="14" name="Content Placeholder 3">
            <a:extLst>
              <a:ext uri="{FF2B5EF4-FFF2-40B4-BE49-F238E27FC236}">
                <a16:creationId xmlns:a16="http://schemas.microsoft.com/office/drawing/2014/main" id="{5DD46D9C-B907-5A35-5F86-A4A8EE901667}"/>
              </a:ext>
            </a:extLst>
          </p:cNvPr>
          <p:cNvSpPr txBox="1">
            <a:spLocks/>
          </p:cNvSpPr>
          <p:nvPr/>
        </p:nvSpPr>
        <p:spPr>
          <a:xfrm>
            <a:off x="258004" y="5065771"/>
            <a:ext cx="4612071" cy="1686072"/>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a:latin typeface="Times New Roman"/>
                <a:cs typeface="Times New Roman"/>
              </a:rPr>
              <a:t>Figure 13:</a:t>
            </a:r>
            <a:r>
              <a:rPr lang="en-US">
                <a:latin typeface="Times New Roman"/>
                <a:cs typeface="Times New Roman"/>
              </a:rPr>
              <a:t> This shows a bar graph of the explained variance of the PCA data used in the supervised learning method.</a:t>
            </a:r>
            <a:endParaRPr lang="en-US"/>
          </a:p>
        </p:txBody>
      </p:sp>
      <p:sp>
        <p:nvSpPr>
          <p:cNvPr id="10" name="Content Placeholder 3">
            <a:extLst>
              <a:ext uri="{FF2B5EF4-FFF2-40B4-BE49-F238E27FC236}">
                <a16:creationId xmlns:a16="http://schemas.microsoft.com/office/drawing/2014/main" id="{43B9EB2A-C691-AE24-4397-D762E98595CA}"/>
              </a:ext>
            </a:extLst>
          </p:cNvPr>
          <p:cNvSpPr txBox="1">
            <a:spLocks/>
          </p:cNvSpPr>
          <p:nvPr/>
        </p:nvSpPr>
        <p:spPr>
          <a:xfrm>
            <a:off x="5361932" y="3911885"/>
            <a:ext cx="6564439" cy="229567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Times New Roman"/>
                <a:cs typeface="Times New Roman"/>
              </a:rPr>
              <a:t>Output 4:</a:t>
            </a:r>
            <a:r>
              <a:rPr lang="en-US" dirty="0">
                <a:latin typeface="Times New Roman"/>
                <a:cs typeface="Times New Roman"/>
              </a:rPr>
              <a:t> This shows the table of the explained variance for each of the principle components in the PCA analysis as well as the total explained variance for the data used in the supervised learning method.</a:t>
            </a:r>
          </a:p>
        </p:txBody>
      </p:sp>
      <p:pic>
        <p:nvPicPr>
          <p:cNvPr id="3" name="Picture 2" descr="A graph with a line pointing at the same number&#10;&#10;AI-generated content may be incorrect., Picture">
            <a:extLst>
              <a:ext uri="{FF2B5EF4-FFF2-40B4-BE49-F238E27FC236}">
                <a16:creationId xmlns:a16="http://schemas.microsoft.com/office/drawing/2014/main" id="{46D68EC6-684F-F24F-0752-4EAAF9E80EB9}"/>
              </a:ext>
            </a:extLst>
          </p:cNvPr>
          <p:cNvPicPr>
            <a:picLocks noChangeAspect="1"/>
          </p:cNvPicPr>
          <p:nvPr/>
        </p:nvPicPr>
        <p:blipFill>
          <a:blip r:embed="rId2"/>
          <a:stretch>
            <a:fillRect/>
          </a:stretch>
        </p:blipFill>
        <p:spPr>
          <a:xfrm>
            <a:off x="157074" y="106158"/>
            <a:ext cx="4951189" cy="4953564"/>
          </a:xfrm>
          <a:prstGeom prst="rect">
            <a:avLst/>
          </a:prstGeom>
        </p:spPr>
      </p:pic>
      <p:pic>
        <p:nvPicPr>
          <p:cNvPr id="5" name="Picture 4" descr="A screen shot of a computer&#10;&#10;AI-generated content may be incorrect., Picture">
            <a:extLst>
              <a:ext uri="{FF2B5EF4-FFF2-40B4-BE49-F238E27FC236}">
                <a16:creationId xmlns:a16="http://schemas.microsoft.com/office/drawing/2014/main" id="{42D9D9B3-2F4B-0D43-D3E1-831ECC071C6D}"/>
              </a:ext>
            </a:extLst>
          </p:cNvPr>
          <p:cNvPicPr>
            <a:picLocks noChangeAspect="1"/>
          </p:cNvPicPr>
          <p:nvPr/>
        </p:nvPicPr>
        <p:blipFill>
          <a:blip r:embed="rId3"/>
          <a:stretch>
            <a:fillRect/>
          </a:stretch>
        </p:blipFill>
        <p:spPr>
          <a:xfrm>
            <a:off x="5362391" y="807804"/>
            <a:ext cx="6554082" cy="2625405"/>
          </a:xfrm>
          <a:prstGeom prst="rect">
            <a:avLst/>
          </a:prstGeom>
        </p:spPr>
      </p:pic>
      <p:cxnSp>
        <p:nvCxnSpPr>
          <p:cNvPr id="4" name="Straight Arrow Connector 3">
            <a:extLst>
              <a:ext uri="{FF2B5EF4-FFF2-40B4-BE49-F238E27FC236}">
                <a16:creationId xmlns:a16="http://schemas.microsoft.com/office/drawing/2014/main" id="{095FD15B-DEF9-2180-BCC9-278ED278BEE6}"/>
              </a:ext>
            </a:extLst>
          </p:cNvPr>
          <p:cNvCxnSpPr/>
          <p:nvPr/>
        </p:nvCxnSpPr>
        <p:spPr>
          <a:xfrm>
            <a:off x="5108263" y="7312"/>
            <a:ext cx="16702" cy="6853824"/>
          </a:xfrm>
          <a:prstGeom prst="straightConnector1">
            <a:avLst/>
          </a:prstGeom>
          <a:ln w="28575">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9931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D0A28-494D-9C22-0F93-EEA1EAF4B693}"/>
            </a:ext>
          </a:extLst>
        </p:cNvPr>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140821B4-873C-7846-0F5F-8792538016A2}"/>
              </a:ext>
            </a:extLst>
          </p:cNvPr>
          <p:cNvSpPr txBox="1">
            <a:spLocks/>
          </p:cNvSpPr>
          <p:nvPr/>
        </p:nvSpPr>
        <p:spPr>
          <a:xfrm>
            <a:off x="1508095" y="5294371"/>
            <a:ext cx="9167302" cy="132684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latin typeface="Times New Roman"/>
                <a:cs typeface="Times New Roman"/>
              </a:rPr>
              <a:t>Table 1:</a:t>
            </a:r>
            <a:r>
              <a:rPr lang="en-US" dirty="0">
                <a:latin typeface="Times New Roman"/>
                <a:cs typeface="Times New Roman"/>
              </a:rPr>
              <a:t> The training and testing accuracies for each of the models tested using the F1-score weighted anomalies as truth values for the supervised machine learning method.</a:t>
            </a:r>
            <a:endParaRPr lang="en-US" dirty="0"/>
          </a:p>
        </p:txBody>
      </p:sp>
      <p:graphicFrame>
        <p:nvGraphicFramePr>
          <p:cNvPr id="2" name="Table 1">
            <a:extLst>
              <a:ext uri="{FF2B5EF4-FFF2-40B4-BE49-F238E27FC236}">
                <a16:creationId xmlns:a16="http://schemas.microsoft.com/office/drawing/2014/main" id="{C705921E-8848-F087-1F87-F71C1106649D}"/>
              </a:ext>
            </a:extLst>
          </p:cNvPr>
          <p:cNvGraphicFramePr>
            <a:graphicFrameLocks noGrp="1"/>
          </p:cNvGraphicFramePr>
          <p:nvPr>
            <p:extLst>
              <p:ext uri="{D42A27DB-BD31-4B8C-83A1-F6EECF244321}">
                <p14:modId xmlns:p14="http://schemas.microsoft.com/office/powerpoint/2010/main" val="3856769598"/>
              </p:ext>
            </p:extLst>
          </p:nvPr>
        </p:nvGraphicFramePr>
        <p:xfrm>
          <a:off x="1110343" y="250370"/>
          <a:ext cx="9958230" cy="4927755"/>
        </p:xfrm>
        <a:graphic>
          <a:graphicData uri="http://schemas.openxmlformats.org/drawingml/2006/table">
            <a:tbl>
              <a:tblPr firstRow="1" bandRow="1">
                <a:tableStyleId>{5C22544A-7EE6-4342-B048-85BDC9FD1C3A}</a:tableStyleId>
              </a:tblPr>
              <a:tblGrid>
                <a:gridCol w="3319410">
                  <a:extLst>
                    <a:ext uri="{9D8B030D-6E8A-4147-A177-3AD203B41FA5}">
                      <a16:colId xmlns:a16="http://schemas.microsoft.com/office/drawing/2014/main" val="2525178845"/>
                    </a:ext>
                  </a:extLst>
                </a:gridCol>
                <a:gridCol w="3319410">
                  <a:extLst>
                    <a:ext uri="{9D8B030D-6E8A-4147-A177-3AD203B41FA5}">
                      <a16:colId xmlns:a16="http://schemas.microsoft.com/office/drawing/2014/main" val="1349011430"/>
                    </a:ext>
                  </a:extLst>
                </a:gridCol>
                <a:gridCol w="3319410">
                  <a:extLst>
                    <a:ext uri="{9D8B030D-6E8A-4147-A177-3AD203B41FA5}">
                      <a16:colId xmlns:a16="http://schemas.microsoft.com/office/drawing/2014/main" val="741776761"/>
                    </a:ext>
                  </a:extLst>
                </a:gridCol>
              </a:tblGrid>
              <a:tr h="593489">
                <a:tc>
                  <a:txBody>
                    <a:bodyPr/>
                    <a:lstStyle/>
                    <a:p>
                      <a:pPr algn="ctr"/>
                      <a:r>
                        <a:rPr lang="en-US" dirty="0">
                          <a:solidFill>
                            <a:schemeClr val="tx1"/>
                          </a:solidFill>
                          <a:latin typeface="Times New Roman" panose="02020603050405020304" pitchFamily="18" charset="0"/>
                          <a:cs typeface="Times New Roman" panose="02020603050405020304" pitchFamily="18" charset="0"/>
                        </a:rPr>
                        <a:t>Model </a:t>
                      </a:r>
                    </a:p>
                  </a:txBody>
                  <a:tcPr anchor="ctr">
                    <a:solidFill>
                      <a:srgbClr val="FFE319"/>
                    </a:solidFill>
                  </a:tcPr>
                </a:tc>
                <a:tc>
                  <a:txBody>
                    <a:bodyPr/>
                    <a:lstStyle/>
                    <a:p>
                      <a:pPr lvl="0" algn="ctr">
                        <a:buNone/>
                      </a:pPr>
                      <a:r>
                        <a:rPr lang="en-US" dirty="0">
                          <a:solidFill>
                            <a:schemeClr val="tx1"/>
                          </a:solidFill>
                          <a:latin typeface="Times New Roman" panose="02020603050405020304" pitchFamily="18" charset="0"/>
                          <a:cs typeface="Times New Roman" panose="02020603050405020304" pitchFamily="18" charset="0"/>
                        </a:rPr>
                        <a:t>Training Accuracy (%)</a:t>
                      </a:r>
                    </a:p>
                  </a:txBody>
                  <a:tcPr anchor="ctr">
                    <a:solidFill>
                      <a:srgbClr val="FFE319"/>
                    </a:solidFill>
                  </a:tcPr>
                </a:tc>
                <a:tc>
                  <a:txBody>
                    <a:bodyPr/>
                    <a:lstStyle/>
                    <a:p>
                      <a:pPr lvl="0" algn="ctr">
                        <a:buNone/>
                      </a:pPr>
                      <a:r>
                        <a:rPr lang="en-US" sz="1800" b="1" i="0" u="none" strike="noStrike" noProof="0" dirty="0">
                          <a:solidFill>
                            <a:schemeClr val="tx1"/>
                          </a:solidFill>
                          <a:latin typeface="Times New Roman" panose="02020603050405020304" pitchFamily="18" charset="0"/>
                          <a:cs typeface="Times New Roman" panose="02020603050405020304" pitchFamily="18" charset="0"/>
                        </a:rPr>
                        <a:t>Testing Accuracy (%)</a:t>
                      </a:r>
                      <a:endParaRPr lang="en-US" dirty="0">
                        <a:solidFill>
                          <a:schemeClr val="tx1"/>
                        </a:solidFill>
                        <a:latin typeface="Times New Roman" panose="02020603050405020304" pitchFamily="18" charset="0"/>
                        <a:cs typeface="Times New Roman" panose="02020603050405020304" pitchFamily="18" charset="0"/>
                      </a:endParaRPr>
                    </a:p>
                  </a:txBody>
                  <a:tcPr anchor="ctr">
                    <a:solidFill>
                      <a:srgbClr val="FFE319"/>
                    </a:solidFill>
                  </a:tcPr>
                </a:tc>
                <a:extLst>
                  <a:ext uri="{0D108BD9-81ED-4DB2-BD59-A6C34878D82A}">
                    <a16:rowId xmlns:a16="http://schemas.microsoft.com/office/drawing/2014/main" val="4202536843"/>
                  </a:ext>
                </a:extLst>
              </a:tr>
              <a:tr h="629458">
                <a:tc>
                  <a:txBody>
                    <a:bodyPr/>
                    <a:lstStyle/>
                    <a:p>
                      <a:pPr algn="ctr"/>
                      <a:r>
                        <a:rPr lang="en-US">
                          <a:latin typeface="Times New Roman" panose="02020603050405020304" pitchFamily="18" charset="0"/>
                          <a:cs typeface="Times New Roman" panose="02020603050405020304" pitchFamily="18" charset="0"/>
                        </a:rPr>
                        <a:t>Logistic Regression</a:t>
                      </a:r>
                    </a:p>
                  </a:txBody>
                  <a:tcPr anchor="ctr"/>
                </a:tc>
                <a:tc>
                  <a:txBody>
                    <a:bodyPr/>
                    <a:lstStyle/>
                    <a:p>
                      <a:pPr lvl="0" algn="ctr">
                        <a:buNone/>
                      </a:pPr>
                      <a:r>
                        <a:rPr lang="en-US">
                          <a:latin typeface="Times New Roman" panose="02020603050405020304" pitchFamily="18" charset="0"/>
                          <a:cs typeface="Times New Roman" panose="02020603050405020304" pitchFamily="18" charset="0"/>
                        </a:rPr>
                        <a:t>86.219</a:t>
                      </a:r>
                    </a:p>
                  </a:txBody>
                  <a:tcPr anchor="ctr"/>
                </a:tc>
                <a:tc>
                  <a:txBody>
                    <a:bodyPr/>
                    <a:lstStyle/>
                    <a:p>
                      <a:pPr algn="ctr"/>
                      <a:r>
                        <a:rPr lang="en-US">
                          <a:latin typeface="Times New Roman" panose="02020603050405020304" pitchFamily="18" charset="0"/>
                          <a:cs typeface="Times New Roman" panose="02020603050405020304" pitchFamily="18" charset="0"/>
                        </a:rPr>
                        <a:t>85.907</a:t>
                      </a:r>
                    </a:p>
                  </a:txBody>
                  <a:tcPr anchor="ctr"/>
                </a:tc>
                <a:extLst>
                  <a:ext uri="{0D108BD9-81ED-4DB2-BD59-A6C34878D82A}">
                    <a16:rowId xmlns:a16="http://schemas.microsoft.com/office/drawing/2014/main" val="1436286294"/>
                  </a:ext>
                </a:extLst>
              </a:tr>
              <a:tr h="863256">
                <a:tc>
                  <a:txBody>
                    <a:bodyPr/>
                    <a:lstStyle/>
                    <a:p>
                      <a:pPr algn="ctr"/>
                      <a:r>
                        <a:rPr lang="en-US">
                          <a:latin typeface="Times New Roman" panose="02020603050405020304" pitchFamily="18" charset="0"/>
                          <a:cs typeface="Times New Roman" panose="02020603050405020304" pitchFamily="18" charset="0"/>
                        </a:rPr>
                        <a:t>Support Vector Machine (Linear Classifier)</a:t>
                      </a:r>
                    </a:p>
                  </a:txBody>
                  <a:tcPr anchor="ctr"/>
                </a:tc>
                <a:tc>
                  <a:txBody>
                    <a:bodyPr/>
                    <a:lstStyle/>
                    <a:p>
                      <a:pPr lvl="0" algn="ctr">
                        <a:buNone/>
                      </a:pPr>
                      <a:r>
                        <a:rPr lang="en-US">
                          <a:latin typeface="Times New Roman" panose="02020603050405020304" pitchFamily="18" charset="0"/>
                          <a:cs typeface="Times New Roman" panose="02020603050405020304" pitchFamily="18" charset="0"/>
                        </a:rPr>
                        <a:t>86.892</a:t>
                      </a:r>
                    </a:p>
                  </a:txBody>
                  <a:tcPr anchor="ctr"/>
                </a:tc>
                <a:tc>
                  <a:txBody>
                    <a:bodyPr/>
                    <a:lstStyle/>
                    <a:p>
                      <a:pPr algn="ctr"/>
                      <a:r>
                        <a:rPr lang="en-US">
                          <a:latin typeface="Times New Roman" panose="02020603050405020304" pitchFamily="18" charset="0"/>
                          <a:cs typeface="Times New Roman" panose="02020603050405020304" pitchFamily="18" charset="0"/>
                        </a:rPr>
                        <a:t>86.555</a:t>
                      </a:r>
                    </a:p>
                  </a:txBody>
                  <a:tcPr anchor="ctr"/>
                </a:tc>
                <a:extLst>
                  <a:ext uri="{0D108BD9-81ED-4DB2-BD59-A6C34878D82A}">
                    <a16:rowId xmlns:a16="http://schemas.microsoft.com/office/drawing/2014/main" val="682774074"/>
                  </a:ext>
                </a:extLst>
              </a:tr>
              <a:tr h="881240">
                <a:tc>
                  <a:txBody>
                    <a:bodyPr/>
                    <a:lstStyle/>
                    <a:p>
                      <a:pPr algn="ctr"/>
                      <a:r>
                        <a:rPr lang="en-US">
                          <a:latin typeface="Times New Roman" panose="02020603050405020304" pitchFamily="18" charset="0"/>
                          <a:cs typeface="Times New Roman" panose="02020603050405020304" pitchFamily="18" charset="0"/>
                        </a:rPr>
                        <a:t>Support Vector Machine (RBF Classifier)</a:t>
                      </a:r>
                    </a:p>
                  </a:txBody>
                  <a:tcPr anchor="ctr"/>
                </a:tc>
                <a:tc>
                  <a:txBody>
                    <a:bodyPr/>
                    <a:lstStyle/>
                    <a:p>
                      <a:pPr lvl="0" algn="ctr">
                        <a:buNone/>
                      </a:pPr>
                      <a:r>
                        <a:rPr lang="en-US">
                          <a:latin typeface="Times New Roman" panose="02020603050405020304" pitchFamily="18" charset="0"/>
                          <a:cs typeface="Times New Roman" panose="02020603050405020304" pitchFamily="18" charset="0"/>
                        </a:rPr>
                        <a:t>94.025</a:t>
                      </a:r>
                    </a:p>
                  </a:txBody>
                  <a:tcPr anchor="ctr"/>
                </a:tc>
                <a:tc>
                  <a:txBody>
                    <a:bodyPr/>
                    <a:lstStyle/>
                    <a:p>
                      <a:pPr algn="ctr"/>
                      <a:r>
                        <a:rPr lang="en-US">
                          <a:latin typeface="Times New Roman" panose="02020603050405020304" pitchFamily="18" charset="0"/>
                          <a:cs typeface="Times New Roman" panose="02020603050405020304" pitchFamily="18" charset="0"/>
                        </a:rPr>
                        <a:t>93.654</a:t>
                      </a:r>
                    </a:p>
                  </a:txBody>
                  <a:tcPr anchor="ctr"/>
                </a:tc>
                <a:extLst>
                  <a:ext uri="{0D108BD9-81ED-4DB2-BD59-A6C34878D82A}">
                    <a16:rowId xmlns:a16="http://schemas.microsoft.com/office/drawing/2014/main" val="2374114592"/>
                  </a:ext>
                </a:extLst>
              </a:tr>
              <a:tr h="629458">
                <a:tc>
                  <a:txBody>
                    <a:bodyPr/>
                    <a:lstStyle/>
                    <a:p>
                      <a:pPr algn="ctr"/>
                      <a:r>
                        <a:rPr lang="en-US">
                          <a:latin typeface="Times New Roman" panose="02020603050405020304" pitchFamily="18" charset="0"/>
                          <a:cs typeface="Times New Roman" panose="02020603050405020304" pitchFamily="18" charset="0"/>
                        </a:rPr>
                        <a:t>Decision Tree (Classifier)</a:t>
                      </a:r>
                    </a:p>
                  </a:txBody>
                  <a:tcPr anchor="ctr"/>
                </a:tc>
                <a:tc>
                  <a:txBody>
                    <a:bodyPr/>
                    <a:lstStyle/>
                    <a:p>
                      <a:pPr lvl="0" algn="ctr">
                        <a:buNone/>
                      </a:pPr>
                      <a:r>
                        <a:rPr lang="en-US">
                          <a:latin typeface="Times New Roman" panose="02020603050405020304" pitchFamily="18" charset="0"/>
                          <a:cs typeface="Times New Roman" panose="02020603050405020304" pitchFamily="18" charset="0"/>
                        </a:rPr>
                        <a:t>100.000</a:t>
                      </a:r>
                    </a:p>
                  </a:txBody>
                  <a:tcPr anchor="ctr"/>
                </a:tc>
                <a:tc>
                  <a:txBody>
                    <a:bodyPr/>
                    <a:lstStyle/>
                    <a:p>
                      <a:pPr algn="ctr"/>
                      <a:r>
                        <a:rPr lang="en-US">
                          <a:latin typeface="Times New Roman" panose="02020603050405020304" pitchFamily="18" charset="0"/>
                          <a:cs typeface="Times New Roman" panose="02020603050405020304" pitchFamily="18" charset="0"/>
                        </a:rPr>
                        <a:t>99.163</a:t>
                      </a:r>
                    </a:p>
                  </a:txBody>
                  <a:tcPr anchor="ctr"/>
                </a:tc>
                <a:extLst>
                  <a:ext uri="{0D108BD9-81ED-4DB2-BD59-A6C34878D82A}">
                    <a16:rowId xmlns:a16="http://schemas.microsoft.com/office/drawing/2014/main" val="4058634321"/>
                  </a:ext>
                </a:extLst>
              </a:tr>
              <a:tr h="701396">
                <a:tc>
                  <a:txBody>
                    <a:bodyPr/>
                    <a:lstStyle/>
                    <a:p>
                      <a:pPr algn="ctr"/>
                      <a:r>
                        <a:rPr lang="en-US">
                          <a:latin typeface="Times New Roman" panose="02020603050405020304" pitchFamily="18" charset="0"/>
                          <a:cs typeface="Times New Roman" panose="02020603050405020304" pitchFamily="18" charset="0"/>
                        </a:rPr>
                        <a:t>Random Forest (Classifier)</a:t>
                      </a:r>
                    </a:p>
                  </a:txBody>
                  <a:tcPr anchor="ctr"/>
                </a:tc>
                <a:tc>
                  <a:txBody>
                    <a:bodyPr/>
                    <a:lstStyle/>
                    <a:p>
                      <a:pPr lvl="0" algn="ctr">
                        <a:buNone/>
                      </a:pPr>
                      <a:r>
                        <a:rPr lang="en-US">
                          <a:latin typeface="Times New Roman" panose="02020603050405020304" pitchFamily="18" charset="0"/>
                          <a:cs typeface="Times New Roman" panose="02020603050405020304" pitchFamily="18" charset="0"/>
                        </a:rPr>
                        <a:t>100.000</a:t>
                      </a:r>
                    </a:p>
                  </a:txBody>
                  <a:tcPr anchor="ctr"/>
                </a:tc>
                <a:tc>
                  <a:txBody>
                    <a:bodyPr/>
                    <a:lstStyle/>
                    <a:p>
                      <a:pPr algn="ctr"/>
                      <a:r>
                        <a:rPr lang="en-US">
                          <a:latin typeface="Times New Roman" panose="02020603050405020304" pitchFamily="18" charset="0"/>
                          <a:cs typeface="Times New Roman" panose="02020603050405020304" pitchFamily="18" charset="0"/>
                        </a:rPr>
                        <a:t>99.365</a:t>
                      </a:r>
                    </a:p>
                  </a:txBody>
                  <a:tcPr anchor="ctr"/>
                </a:tc>
                <a:extLst>
                  <a:ext uri="{0D108BD9-81ED-4DB2-BD59-A6C34878D82A}">
                    <a16:rowId xmlns:a16="http://schemas.microsoft.com/office/drawing/2014/main" val="3135397749"/>
                  </a:ext>
                </a:extLst>
              </a:tr>
              <a:tr h="629458">
                <a:tc>
                  <a:txBody>
                    <a:bodyPr/>
                    <a:lstStyle/>
                    <a:p>
                      <a:pPr algn="ctr"/>
                      <a:r>
                        <a:rPr lang="en-US">
                          <a:latin typeface="Times New Roman" panose="02020603050405020304" pitchFamily="18" charset="0"/>
                          <a:cs typeface="Times New Roman" panose="02020603050405020304" pitchFamily="18" charset="0"/>
                        </a:rPr>
                        <a:t>K-Nearest Neighbors</a:t>
                      </a:r>
                    </a:p>
                  </a:txBody>
                  <a:tcPr anchor="ctr"/>
                </a:tc>
                <a:tc>
                  <a:txBody>
                    <a:bodyPr/>
                    <a:lstStyle/>
                    <a:p>
                      <a:pPr lvl="0" algn="ctr">
                        <a:buNone/>
                      </a:pPr>
                      <a:r>
                        <a:rPr lang="en-US">
                          <a:latin typeface="Times New Roman" panose="02020603050405020304" pitchFamily="18" charset="0"/>
                          <a:cs typeface="Times New Roman" panose="02020603050405020304" pitchFamily="18" charset="0"/>
                        </a:rPr>
                        <a:t>97.850</a:t>
                      </a:r>
                    </a:p>
                  </a:txBody>
                  <a:tcPr anchor="ctr"/>
                </a:tc>
                <a:tc>
                  <a:txBody>
                    <a:bodyPr/>
                    <a:lstStyle/>
                    <a:p>
                      <a:pPr algn="ctr"/>
                      <a:r>
                        <a:rPr lang="en-US" dirty="0">
                          <a:latin typeface="Times New Roman" panose="02020603050405020304" pitchFamily="18" charset="0"/>
                          <a:cs typeface="Times New Roman" panose="02020603050405020304" pitchFamily="18" charset="0"/>
                        </a:rPr>
                        <a:t>97.517</a:t>
                      </a:r>
                    </a:p>
                  </a:txBody>
                  <a:tcPr anchor="ctr"/>
                </a:tc>
                <a:extLst>
                  <a:ext uri="{0D108BD9-81ED-4DB2-BD59-A6C34878D82A}">
                    <a16:rowId xmlns:a16="http://schemas.microsoft.com/office/drawing/2014/main" val="676529465"/>
                  </a:ext>
                </a:extLst>
              </a:tr>
            </a:tbl>
          </a:graphicData>
        </a:graphic>
      </p:graphicFrame>
    </p:spTree>
    <p:extLst>
      <p:ext uri="{BB962C8B-B14F-4D97-AF65-F5344CB8AC3E}">
        <p14:creationId xmlns:p14="http://schemas.microsoft.com/office/powerpoint/2010/main" val="2361399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7C743-456A-0BFE-EA54-51D5F08308AD}"/>
            </a:ext>
          </a:extLst>
        </p:cNvPr>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D0941864-0D5B-6A4B-71C2-BD62D3A5B057}"/>
              </a:ext>
            </a:extLst>
          </p:cNvPr>
          <p:cNvSpPr txBox="1">
            <a:spLocks/>
          </p:cNvSpPr>
          <p:nvPr/>
        </p:nvSpPr>
        <p:spPr>
          <a:xfrm>
            <a:off x="2152892" y="1604078"/>
            <a:ext cx="7887678" cy="437969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latin typeface="Times New Roman"/>
                <a:cs typeface="Times New Roman"/>
              </a:rPr>
              <a:t>Visually demonstrate the separation and overlap of anomalous data points by unsupervised &amp; supervised learning methods to quantify the significance of overlapping anomalies.</a:t>
            </a:r>
          </a:p>
          <a:p>
            <a:pPr marL="0" indent="0" algn="ctr">
              <a:buNone/>
            </a:pPr>
            <a:endParaRPr lang="en-US" b="1" dirty="0">
              <a:solidFill>
                <a:srgbClr val="000000"/>
              </a:solidFill>
              <a:latin typeface="Times New Roman"/>
              <a:cs typeface="Times New Roman"/>
            </a:endParaRPr>
          </a:p>
          <a:p>
            <a:pPr marL="0" indent="0" algn="ctr">
              <a:buNone/>
            </a:pPr>
            <a:r>
              <a:rPr lang="en-US" dirty="0">
                <a:latin typeface="Times New Roman"/>
                <a:cs typeface="Times New Roman"/>
              </a:rPr>
              <a:t> F1-score weighting of the respective detection models prioritize high-confidence, shared anomalies for further "expert" diagnostic investigation in H2 Fuel Cell Systems.</a:t>
            </a:r>
          </a:p>
        </p:txBody>
      </p:sp>
      <p:sp>
        <p:nvSpPr>
          <p:cNvPr id="4" name="Content Placeholder 3">
            <a:extLst>
              <a:ext uri="{FF2B5EF4-FFF2-40B4-BE49-F238E27FC236}">
                <a16:creationId xmlns:a16="http://schemas.microsoft.com/office/drawing/2014/main" id="{03364D94-CAC5-2826-96D2-C53DD260D580}"/>
              </a:ext>
            </a:extLst>
          </p:cNvPr>
          <p:cNvSpPr txBox="1">
            <a:spLocks/>
          </p:cNvSpPr>
          <p:nvPr/>
        </p:nvSpPr>
        <p:spPr>
          <a:xfrm>
            <a:off x="1456037" y="380400"/>
            <a:ext cx="9273967" cy="66150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000" b="1">
                <a:latin typeface="Times New Roman"/>
                <a:cs typeface="Times New Roman"/>
              </a:rPr>
              <a:t>Conclusion of Study</a:t>
            </a:r>
          </a:p>
        </p:txBody>
      </p:sp>
    </p:spTree>
    <p:extLst>
      <p:ext uri="{BB962C8B-B14F-4D97-AF65-F5344CB8AC3E}">
        <p14:creationId xmlns:p14="http://schemas.microsoft.com/office/powerpoint/2010/main" val="4030008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86DF-C8C8-7B88-7F6D-B25DC667536B}"/>
              </a:ext>
            </a:extLst>
          </p:cNvPr>
          <p:cNvSpPr>
            <a:spLocks noGrp="1"/>
          </p:cNvSpPr>
          <p:nvPr>
            <p:ph type="title"/>
          </p:nvPr>
        </p:nvSpPr>
        <p:spPr>
          <a:xfrm>
            <a:off x="2982923" y="938830"/>
            <a:ext cx="6226154" cy="4980340"/>
          </a:xfrm>
        </p:spPr>
        <p:txBody>
          <a:bodyPr>
            <a:normAutofit/>
          </a:bodyPr>
          <a:lstStyle/>
          <a:p>
            <a:pPr algn="ctr"/>
            <a:r>
              <a:rPr lang="en-US" dirty="0">
                <a:latin typeface="Times New Roman"/>
                <a:cs typeface="Times New Roman"/>
              </a:rPr>
              <a:t>Thank You For Your Time.</a:t>
            </a:r>
            <a:br>
              <a:rPr lang="en-US" dirty="0">
                <a:latin typeface="Times New Roman"/>
              </a:rPr>
            </a:br>
            <a:br>
              <a:rPr lang="en-US" dirty="0">
                <a:latin typeface="Times New Roman"/>
              </a:rPr>
            </a:br>
            <a:r>
              <a:rPr lang="en-US" dirty="0">
                <a:latin typeface="Times New Roman"/>
                <a:cs typeface="Times New Roman"/>
              </a:rPr>
              <a:t>Any Questions?</a:t>
            </a:r>
            <a:br>
              <a:rPr lang="en-US" dirty="0">
                <a:latin typeface="Times New Roman"/>
              </a:rPr>
            </a:br>
            <a:br>
              <a:rPr lang="en-US" dirty="0"/>
            </a:br>
            <a:endParaRPr lang="en-US" dirty="0"/>
          </a:p>
        </p:txBody>
      </p:sp>
    </p:spTree>
    <p:extLst>
      <p:ext uri="{BB962C8B-B14F-4D97-AF65-F5344CB8AC3E}">
        <p14:creationId xmlns:p14="http://schemas.microsoft.com/office/powerpoint/2010/main" val="24246055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71D284253BDED408C8D2DCD408DD24F" ma:contentTypeVersion="11" ma:contentTypeDescription="Create a new document." ma:contentTypeScope="" ma:versionID="31edd1d0148f86df8df07d27ebec5e3f">
  <xsd:schema xmlns:xsd="http://www.w3.org/2001/XMLSchema" xmlns:xs="http://www.w3.org/2001/XMLSchema" xmlns:p="http://schemas.microsoft.com/office/2006/metadata/properties" xmlns:ns2="7d54c0bf-6bf7-46e4-ba78-b7d3bf458cf1" xmlns:ns3="8a628796-97cd-4031-a3ec-c4b77696cb11" targetNamespace="http://schemas.microsoft.com/office/2006/metadata/properties" ma:root="true" ma:fieldsID="bcb8ed95e3706e7cf6a3047219089e9a" ns2:_="" ns3:_="">
    <xsd:import namespace="7d54c0bf-6bf7-46e4-ba78-b7d3bf458cf1"/>
    <xsd:import namespace="8a628796-97cd-4031-a3ec-c4b77696cb1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54c0bf-6bf7-46e4-ba78-b7d3bf458cf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179b0ed-824f-4bbb-9b9e-648f562944cf"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628796-97cd-4031-a3ec-c4b77696cb1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e5f117f-40de-4d20-a633-58e4fe18009a}" ma:internalName="TaxCatchAll" ma:showField="CatchAllData" ma:web="8a628796-97cd-4031-a3ec-c4b77696cb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8a628796-97cd-4031-a3ec-c4b77696cb11" xsi:nil="true"/>
    <lcf76f155ced4ddcb4097134ff3c332f xmlns="7d54c0bf-6bf7-46e4-ba78-b7d3bf458cf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57B23E8-B4C1-4D8A-897A-550A308D36E0}">
  <ds:schemaRefs>
    <ds:schemaRef ds:uri="http://schemas.microsoft.com/sharepoint/v3/contenttype/forms"/>
  </ds:schemaRefs>
</ds:datastoreItem>
</file>

<file path=customXml/itemProps2.xml><?xml version="1.0" encoding="utf-8"?>
<ds:datastoreItem xmlns:ds="http://schemas.openxmlformats.org/officeDocument/2006/customXml" ds:itemID="{7E17ECF9-33B8-493A-8B6A-9B4091C4F4E9}">
  <ds:schemaRefs>
    <ds:schemaRef ds:uri="7d54c0bf-6bf7-46e4-ba78-b7d3bf458cf1"/>
    <ds:schemaRef ds:uri="8a628796-97cd-4031-a3ec-c4b77696cb1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9A0CFA2-B6E2-4A0E-ADA2-D9A66A8ED4D5}">
  <ds:schemaRefs>
    <ds:schemaRef ds:uri="7d54c0bf-6bf7-46e4-ba78-b7d3bf458cf1"/>
    <ds:schemaRef ds:uri="8a628796-97cd-4031-a3ec-c4b77696cb1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227</TotalTime>
  <Words>1281</Words>
  <Application>Microsoft Office PowerPoint</Application>
  <PresentationFormat>Widescreen</PresentationFormat>
  <Paragraphs>147</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Times New Roman</vt:lpstr>
      <vt:lpstr>Office Theme</vt:lpstr>
      <vt:lpstr>PowerPoint Presentation</vt:lpstr>
      <vt:lpstr>Hydrogen Fuel Cells</vt:lpstr>
      <vt:lpstr>PowerPoint Presentation</vt:lpstr>
      <vt:lpstr>DATASET The dataset consists of data from 4 Hydrogen Fuel Cell batteries built for Electric Commuter Vehicles in space exploration. The dataset is available to the public as a continuous record of the 4 batteries.</vt:lpstr>
      <vt:lpstr>PowerPoint Presentation</vt:lpstr>
      <vt:lpstr>Unsupervised vs Supervised Learning in Anomaly Detection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Your Time.  Any 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mashburne17@gmail.com</dc:creator>
  <cp:lastModifiedBy>Dillon Wood</cp:lastModifiedBy>
  <cp:revision>41</cp:revision>
  <dcterms:created xsi:type="dcterms:W3CDTF">2025-04-03T20:22:18Z</dcterms:created>
  <dcterms:modified xsi:type="dcterms:W3CDTF">2025-04-11T05:34:56Z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0x010100071D284253BDED408C8D2DCD408DD24F</vt:lpwstr>
  </property>
  <property fmtid="{D5CDD505-2E9C-101B-9397-08002B2CF9AE}" pid="3" name="MediaServiceImageTags">
    <vt:lpwstr/>
  </property>
</Properties>
</file>